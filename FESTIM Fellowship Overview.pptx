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38"/>
  </p:notesMasterIdLst>
  <p:sldIdLst>
    <p:sldId id="257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58" r:id="rId14"/>
    <p:sldId id="291" r:id="rId15"/>
    <p:sldId id="290" r:id="rId16"/>
    <p:sldId id="260" r:id="rId17"/>
    <p:sldId id="264" r:id="rId18"/>
    <p:sldId id="261" r:id="rId19"/>
    <p:sldId id="276" r:id="rId20"/>
    <p:sldId id="271" r:id="rId21"/>
    <p:sldId id="262" r:id="rId22"/>
    <p:sldId id="268" r:id="rId23"/>
    <p:sldId id="278" r:id="rId24"/>
    <p:sldId id="263" r:id="rId25"/>
    <p:sldId id="266" r:id="rId26"/>
    <p:sldId id="267" r:id="rId27"/>
    <p:sldId id="269" r:id="rId28"/>
    <p:sldId id="277" r:id="rId29"/>
    <p:sldId id="274" r:id="rId30"/>
    <p:sldId id="273" r:id="rId31"/>
    <p:sldId id="270" r:id="rId32"/>
    <p:sldId id="275" r:id="rId33"/>
    <p:sldId id="279" r:id="rId34"/>
    <p:sldId id="281" r:id="rId35"/>
    <p:sldId id="280" r:id="rId36"/>
    <p:sldId id="265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230"/>
    <a:srgbClr val="D2D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795"/>
  </p:normalViewPr>
  <p:slideViewPr>
    <p:cSldViewPr snapToGrid="0">
      <p:cViewPr varScale="1">
        <p:scale>
          <a:sx n="120" d="100"/>
          <a:sy n="120" d="100"/>
        </p:scale>
        <p:origin x="8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A2519-7EF3-2C4D-8090-F9C0D8283A17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415D5-B4E2-AD44-ACD9-54ECFE54A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446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415D5-B4E2-AD44-ACD9-54ECFE54A0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59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415D5-B4E2-AD44-ACD9-54ECFE54A07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11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192A0-77A7-C959-2F16-2AED9B153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53852-AFCF-4222-F87E-47EF753C2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ED412-14BB-6970-F783-BF3B0AFB7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3F6EA-B18B-D12D-56AE-F45FA34BD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415D5-B4E2-AD44-ACD9-54ECFE54A07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63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BA701-4CD9-CD5E-7B32-0144737FF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E0E17-A833-E1B7-8D06-682644AC7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43697A-2676-49D7-4488-B8AE3D8CE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A369C-2F85-1E0F-EB22-DB2B8E7B3A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415D5-B4E2-AD44-ACD9-54ECFE54A07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889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A039D69-FC92-8FCA-029B-7B5E7FBA95E3}"/>
              </a:ext>
            </a:extLst>
          </p:cNvPr>
          <p:cNvSpPr/>
          <p:nvPr userDrawn="1"/>
        </p:nvSpPr>
        <p:spPr>
          <a:xfrm>
            <a:off x="0" y="6066148"/>
            <a:ext cx="3780149" cy="791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89568A-FD0A-B28A-8AE6-7F8AA66FC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">
                <a:schemeClr val="tx2">
                  <a:lumMod val="10000"/>
                  <a:lumOff val="90000"/>
                  <a:alpha val="88000"/>
                </a:schemeClr>
              </a:gs>
              <a:gs pos="49000">
                <a:schemeClr val="tx2">
                  <a:lumMod val="10000"/>
                  <a:lumOff val="90000"/>
                  <a:alpha val="12122"/>
                </a:schemeClr>
              </a:gs>
              <a:gs pos="100000">
                <a:schemeClr val="accent1">
                  <a:tint val="23500"/>
                  <a:satMod val="160000"/>
                  <a:lumMod val="72401"/>
                  <a:lumOff val="27599"/>
                  <a:alpha val="11205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90909" y="3301621"/>
            <a:ext cx="6054401" cy="1689070"/>
          </a:xfrm>
        </p:spPr>
        <p:txBody>
          <a:bodyPr anchor="t">
            <a:normAutofit/>
          </a:bodyPr>
          <a:lstStyle>
            <a:lvl1pPr algn="ctr">
              <a:defRPr sz="36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1C23249-8412-A1EA-6DD0-2AA7EA2547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2837"/>
          <a:stretch/>
        </p:blipFill>
        <p:spPr>
          <a:xfrm>
            <a:off x="0" y="-437000"/>
            <a:ext cx="5774449" cy="85977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4721C-3CD7-0979-BA00-AD75499F3D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10499" y="2398575"/>
            <a:ext cx="6415223" cy="818964"/>
          </a:xfrm>
          <a:prstGeom prst="rect">
            <a:avLst/>
          </a:prstGeom>
        </p:spPr>
      </p:pic>
      <p:pic>
        <p:nvPicPr>
          <p:cNvPr id="13" name="Picture 12" descr="A blue and black logo&#10;&#10;Description automatically generated">
            <a:extLst>
              <a:ext uri="{FF2B5EF4-FFF2-40B4-BE49-F238E27FC236}">
                <a16:creationId xmlns:a16="http://schemas.microsoft.com/office/drawing/2014/main" id="{0B25504D-49BF-011B-8EF7-5FD6CA7BAF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64365" y="4647297"/>
            <a:ext cx="246093" cy="2310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and purple background&#10;&#10;AI-generated content may be incorrect.">
            <a:extLst>
              <a:ext uri="{FF2B5EF4-FFF2-40B4-BE49-F238E27FC236}">
                <a16:creationId xmlns:a16="http://schemas.microsoft.com/office/drawing/2014/main" id="{35AD34FB-23DB-C3D4-2BE6-9527C260D0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FFB4CD1-3E9F-55A2-C71D-233796BF2436}"/>
              </a:ext>
            </a:extLst>
          </p:cNvPr>
          <p:cNvSpPr/>
          <p:nvPr userDrawn="1"/>
        </p:nvSpPr>
        <p:spPr>
          <a:xfrm>
            <a:off x="0" y="0"/>
            <a:ext cx="12192000" cy="61722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  <a:alpha val="36763"/>
                </a:schemeClr>
              </a:gs>
              <a:gs pos="100000">
                <a:schemeClr val="accent1">
                  <a:shade val="100000"/>
                  <a:satMod val="115000"/>
                  <a:alpha val="21484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PROPRIETARY &amp; CONFIDENTIAL – INTERNAL USE ONLY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FED42C-55D3-0E61-D8FD-2E27318216F1}"/>
              </a:ext>
            </a:extLst>
          </p:cNvPr>
          <p:cNvCxnSpPr/>
          <p:nvPr userDrawn="1"/>
        </p:nvCxnSpPr>
        <p:spPr>
          <a:xfrm>
            <a:off x="0" y="619595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201C18B-34B8-5E5B-F72C-53A4B325AB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745" y="272410"/>
            <a:ext cx="4133890" cy="41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39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ew Section -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purple background&#10;&#10;AI-generated content may be incorrect.">
            <a:extLst>
              <a:ext uri="{FF2B5EF4-FFF2-40B4-BE49-F238E27FC236}">
                <a16:creationId xmlns:a16="http://schemas.microsoft.com/office/drawing/2014/main" id="{BCFA498F-98B6-E2E0-7DFC-514D882E84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1778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88301"/>
            <a:ext cx="9144000" cy="8119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PROPRIETARY &amp; CONFIDENTIAL –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20503" y="6356350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FED42C-55D3-0E61-D8FD-2E27318216F1}"/>
              </a:ext>
            </a:extLst>
          </p:cNvPr>
          <p:cNvCxnSpPr/>
          <p:nvPr userDrawn="1"/>
        </p:nvCxnSpPr>
        <p:spPr>
          <a:xfrm>
            <a:off x="0" y="61959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2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E46505-F2D6-A282-ED94-9948BB581E7A}"/>
              </a:ext>
            </a:extLst>
          </p:cNvPr>
          <p:cNvSpPr/>
          <p:nvPr userDrawn="1"/>
        </p:nvSpPr>
        <p:spPr>
          <a:xfrm>
            <a:off x="0" y="1"/>
            <a:ext cx="12192000" cy="710328"/>
          </a:xfrm>
          <a:prstGeom prst="rect">
            <a:avLst/>
          </a:prstGeom>
          <a:gradFill flip="none" rotWithShape="1">
            <a:gsLst>
              <a:gs pos="84000">
                <a:schemeClr val="accent1"/>
              </a:gs>
              <a:gs pos="0">
                <a:schemeClr val="accent6"/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559" y="84476"/>
            <a:ext cx="10515600" cy="625853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0038"/>
            <a:ext cx="10515600" cy="45880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925363-2091-6340-64A2-C5887E580AB3}"/>
              </a:ext>
            </a:extLst>
          </p:cNvPr>
          <p:cNvCxnSpPr/>
          <p:nvPr userDrawn="1"/>
        </p:nvCxnSpPr>
        <p:spPr>
          <a:xfrm>
            <a:off x="0" y="61959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black logo&#10;&#10;AI-generated content may be incorrect.">
            <a:extLst>
              <a:ext uri="{FF2B5EF4-FFF2-40B4-BE49-F238E27FC236}">
                <a16:creationId xmlns:a16="http://schemas.microsoft.com/office/drawing/2014/main" id="{905C3812-4A0E-91E6-0F7E-C4D956D2F1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19404" y="1204500"/>
            <a:ext cx="5072596" cy="4449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E46505-F2D6-A282-ED94-9948BB581E7A}"/>
              </a:ext>
            </a:extLst>
          </p:cNvPr>
          <p:cNvSpPr/>
          <p:nvPr userDrawn="1"/>
        </p:nvSpPr>
        <p:spPr>
          <a:xfrm>
            <a:off x="0" y="1"/>
            <a:ext cx="12192000" cy="710328"/>
          </a:xfrm>
          <a:prstGeom prst="rect">
            <a:avLst/>
          </a:prstGeom>
          <a:gradFill flip="none" rotWithShape="1">
            <a:gsLst>
              <a:gs pos="84000">
                <a:schemeClr val="accent1"/>
              </a:gs>
              <a:gs pos="0">
                <a:schemeClr val="accent6"/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559" y="84476"/>
            <a:ext cx="10515600" cy="625853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0038"/>
            <a:ext cx="10515600" cy="45880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925363-2091-6340-64A2-C5887E580AB3}"/>
              </a:ext>
            </a:extLst>
          </p:cNvPr>
          <p:cNvCxnSpPr/>
          <p:nvPr userDrawn="1"/>
        </p:nvCxnSpPr>
        <p:spPr>
          <a:xfrm>
            <a:off x="0" y="61959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72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48B412A-102C-0E74-6F9A-1BC42536BA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8918" y="710329"/>
            <a:ext cx="5993081" cy="5485619"/>
          </a:xfrm>
          <a:ln>
            <a:noFill/>
          </a:ln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E46505-F2D6-A282-ED94-9948BB581E7A}"/>
              </a:ext>
            </a:extLst>
          </p:cNvPr>
          <p:cNvSpPr/>
          <p:nvPr userDrawn="1"/>
        </p:nvSpPr>
        <p:spPr>
          <a:xfrm>
            <a:off x="0" y="1"/>
            <a:ext cx="12192000" cy="710328"/>
          </a:xfrm>
          <a:prstGeom prst="rect">
            <a:avLst/>
          </a:prstGeom>
          <a:gradFill flip="none" rotWithShape="1">
            <a:gsLst>
              <a:gs pos="84000">
                <a:schemeClr val="accent1"/>
              </a:gs>
              <a:gs pos="0">
                <a:schemeClr val="accent6"/>
              </a:gs>
              <a:gs pos="99000">
                <a:schemeClr val="accent5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559" y="84476"/>
            <a:ext cx="10515600" cy="625853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107" y="1134958"/>
            <a:ext cx="4790704" cy="45880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925363-2091-6340-64A2-C5887E580AB3}"/>
              </a:ext>
            </a:extLst>
          </p:cNvPr>
          <p:cNvCxnSpPr/>
          <p:nvPr userDrawn="1"/>
        </p:nvCxnSpPr>
        <p:spPr>
          <a:xfrm>
            <a:off x="0" y="61959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03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1C7F6E-E6DD-B949-BFC5-1792DDBE1F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8315"/>
            <a:ext cx="12192000" cy="6195761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559" y="94415"/>
            <a:ext cx="10515600" cy="62585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925363-2091-6340-64A2-C5887E580AB3}"/>
              </a:ext>
            </a:extLst>
          </p:cNvPr>
          <p:cNvCxnSpPr/>
          <p:nvPr userDrawn="1"/>
        </p:nvCxnSpPr>
        <p:spPr>
          <a:xfrm>
            <a:off x="0" y="61959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15607-E854-0290-46CE-DDF0FF2F40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8697" y="1104930"/>
            <a:ext cx="4202113" cy="45227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157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57B55D-2DA2-2A35-2625-A12F0EAA4A2F}"/>
              </a:ext>
            </a:extLst>
          </p:cNvPr>
          <p:cNvSpPr/>
          <p:nvPr userDrawn="1"/>
        </p:nvSpPr>
        <p:spPr>
          <a:xfrm>
            <a:off x="0" y="0"/>
            <a:ext cx="3384468" cy="61722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achine with a round door&#10;&#10;AI-generated content may be incorrect.">
            <a:extLst>
              <a:ext uri="{FF2B5EF4-FFF2-40B4-BE49-F238E27FC236}">
                <a16:creationId xmlns:a16="http://schemas.microsoft.com/office/drawing/2014/main" id="{A4754A98-46D4-6D6F-29EC-EA353381FE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96757" y="195"/>
            <a:ext cx="9895244" cy="6195752"/>
          </a:xfrm>
          <a:prstGeom prst="rect">
            <a:avLst/>
          </a:prstGeom>
        </p:spPr>
      </p:pic>
      <p:pic>
        <p:nvPicPr>
          <p:cNvPr id="11" name="Picture 10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3884E8E7-F342-66B2-4D9C-05A6DE9BC4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"/>
            <a:ext cx="11241881" cy="61959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27" y="2054491"/>
            <a:ext cx="4741701" cy="208722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925363-2091-6340-64A2-C5887E580AB3}"/>
              </a:ext>
            </a:extLst>
          </p:cNvPr>
          <p:cNvCxnSpPr/>
          <p:nvPr userDrawn="1"/>
        </p:nvCxnSpPr>
        <p:spPr>
          <a:xfrm>
            <a:off x="0" y="619595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736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and purple background&#10;&#10;AI-generated content may be incorrect.">
            <a:extLst>
              <a:ext uri="{FF2B5EF4-FFF2-40B4-BE49-F238E27FC236}">
                <a16:creationId xmlns:a16="http://schemas.microsoft.com/office/drawing/2014/main" id="{B9A2B003-894F-2D07-2651-2E666C4AFA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51736"/>
            <a:ext cx="9144000" cy="3242243"/>
          </a:xfr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PROPRIETARY &amp; CONFIDENTIAL –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20503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FED42C-55D3-0E61-D8FD-2E27318216F1}"/>
              </a:ext>
            </a:extLst>
          </p:cNvPr>
          <p:cNvCxnSpPr/>
          <p:nvPr userDrawn="1"/>
        </p:nvCxnSpPr>
        <p:spPr>
          <a:xfrm>
            <a:off x="0" y="619595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34A5B70-66A7-10F8-4BA9-40D54D521C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7347" y="6380100"/>
            <a:ext cx="2992225" cy="29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19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82785" y="6358441"/>
            <a:ext cx="502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/>
              <a:t>PROPRIETARY &amp; CONFIDENTIAL –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21417" y="636132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6E0FBB-8549-3A6E-5D79-36BF11A9C7F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7383" y="6391975"/>
            <a:ext cx="2981739" cy="29817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0" r:id="rId4"/>
    <p:sldLayoutId id="2147483659" r:id="rId5"/>
    <p:sldLayoutId id="2147483658" r:id="rId6"/>
    <p:sldLayoutId id="2147483655" r:id="rId7"/>
    <p:sldLayoutId id="2147483656" r:id="rId8"/>
    <p:sldLayoutId id="2147483654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3.jpe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F938B-996A-74B0-9C77-7AF56CBF98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FESTIM Fellowship Work Plan</a:t>
            </a:r>
            <a:br>
              <a:rPr lang="en-US" dirty="0"/>
            </a:br>
            <a:r>
              <a:rPr lang="en-US" dirty="0"/>
              <a:t>E. Yildirim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FE059F-58F3-BEDF-D4B5-F26A45610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413415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F98C-038E-F764-63B2-5FF8A72BD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401B3-632E-F12C-6C85-FF7BE7720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Summer Cohort starting in mid-June</a:t>
            </a:r>
          </a:p>
          <a:p>
            <a:r>
              <a:rPr lang="en-US" dirty="0"/>
              <a:t>20 </a:t>
            </a:r>
            <a:r>
              <a:rPr lang="en-US" dirty="0" err="1"/>
              <a:t>hrs</a:t>
            </a:r>
            <a:r>
              <a:rPr lang="en-US" dirty="0"/>
              <a:t>/week expected commitment</a:t>
            </a:r>
          </a:p>
          <a:p>
            <a:r>
              <a:rPr lang="en-US" dirty="0"/>
              <a:t>2 trips favored for start and mid progress, with possible final wrap up trip at the end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7DB333-755E-A725-04DD-3C2CE99A8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DCA43-085F-C310-A464-AA1790CB3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74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8EB0B-038C-628D-A097-13CFF0937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59" y="84476"/>
            <a:ext cx="10515600" cy="625853"/>
          </a:xfrm>
        </p:spPr>
        <p:txBody>
          <a:bodyPr anchor="ctr">
            <a:normAutofit/>
          </a:bodyPr>
          <a:lstStyle/>
          <a:p>
            <a:r>
              <a:rPr lang="en-US" dirty="0"/>
              <a:t>Structure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2AC1F7-498A-21E6-7E27-7CC805FA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2785" y="6358441"/>
            <a:ext cx="5029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PROPRIETARY &amp; CONFIDENTIAL – INTERNAL USE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FA567-C212-2878-4103-021CC76CB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1417" y="6361327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DF4AA9-E0A6-61DB-B28B-2DDE477C7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723146"/>
              </p:ext>
            </p:extLst>
          </p:nvPr>
        </p:nvGraphicFramePr>
        <p:xfrm>
          <a:off x="838200" y="1539604"/>
          <a:ext cx="10515602" cy="3788954"/>
        </p:xfrm>
        <a:graphic>
          <a:graphicData uri="http://schemas.openxmlformats.org/drawingml/2006/table">
            <a:tbl>
              <a:tblPr firstRow="1" firstCol="1" bandRow="1"/>
              <a:tblGrid>
                <a:gridCol w="1590512">
                  <a:extLst>
                    <a:ext uri="{9D8B030D-6E8A-4147-A177-3AD203B41FA5}">
                      <a16:colId xmlns:a16="http://schemas.microsoft.com/office/drawing/2014/main" val="750948672"/>
                    </a:ext>
                  </a:extLst>
                </a:gridCol>
                <a:gridCol w="2209044">
                  <a:extLst>
                    <a:ext uri="{9D8B030D-6E8A-4147-A177-3AD203B41FA5}">
                      <a16:colId xmlns:a16="http://schemas.microsoft.com/office/drawing/2014/main" val="1539217379"/>
                    </a:ext>
                  </a:extLst>
                </a:gridCol>
                <a:gridCol w="4948811">
                  <a:extLst>
                    <a:ext uri="{9D8B030D-6E8A-4147-A177-3AD203B41FA5}">
                      <a16:colId xmlns:a16="http://schemas.microsoft.com/office/drawing/2014/main" val="1978842677"/>
                    </a:ext>
                  </a:extLst>
                </a:gridCol>
                <a:gridCol w="1767235">
                  <a:extLst>
                    <a:ext uri="{9D8B030D-6E8A-4147-A177-3AD203B41FA5}">
                      <a16:colId xmlns:a16="http://schemas.microsoft.com/office/drawing/2014/main" val="369142817"/>
                    </a:ext>
                  </a:extLst>
                </a:gridCol>
              </a:tblGrid>
              <a:tr h="54961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700" b="1" i="0" u="none" strike="noStrike">
                          <a:solidFill>
                            <a:srgbClr val="FFFFFF"/>
                          </a:solidFill>
                          <a:effectLst/>
                          <a:latin typeface="Exo"/>
                          <a:ea typeface="Exo"/>
                          <a:cs typeface="Exo"/>
                        </a:rPr>
                        <a:t>Stage</a:t>
                      </a:r>
                      <a:endParaRPr lang="en-GB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633" marR="154633" marT="110452" marB="11045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1C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700" b="1" i="0" u="none" strike="noStrike">
                          <a:solidFill>
                            <a:srgbClr val="FFFFFF"/>
                          </a:solidFill>
                          <a:effectLst/>
                          <a:latin typeface="Exo"/>
                          <a:ea typeface="Exo"/>
                          <a:cs typeface="Exo"/>
                        </a:rPr>
                        <a:t>Weeks</a:t>
                      </a:r>
                      <a:endParaRPr lang="en-GB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633" marR="154633" marT="110452" marB="11045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1C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700" b="1" i="0" u="none" strike="noStrike">
                          <a:solidFill>
                            <a:srgbClr val="FFFFFF"/>
                          </a:solidFill>
                          <a:effectLst/>
                          <a:latin typeface="Exo"/>
                          <a:ea typeface="Exo"/>
                          <a:cs typeface="Exo"/>
                        </a:rPr>
                        <a:t>Focus</a:t>
                      </a:r>
                      <a:endParaRPr lang="en-GB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633" marR="154633" marT="110452" marB="11045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1C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700" b="1" i="0" u="none" strike="noStrike">
                          <a:solidFill>
                            <a:srgbClr val="FFFFFF"/>
                          </a:solidFill>
                          <a:effectLst/>
                          <a:latin typeface="Exo"/>
                          <a:ea typeface="Exo"/>
                          <a:cs typeface="Exo"/>
                        </a:rPr>
                        <a:t>Status</a:t>
                      </a:r>
                      <a:endParaRPr lang="en-GB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633" marR="154633" marT="110452" marB="11045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1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89476"/>
                  </a:ext>
                </a:extLst>
              </a:tr>
              <a:tr h="107978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700" b="0" i="0" u="none" strike="noStrike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Stage 1</a:t>
                      </a:r>
                      <a:endParaRPr lang="en-GB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633" marR="154633" marT="110452" marB="11045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700" b="0" i="0" u="none" strike="noStrike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1-4</a:t>
                      </a:r>
                      <a:endParaRPr lang="en-GB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633" marR="154633" marT="110452" marB="11045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700" b="0" i="0" u="none" strike="noStrike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Pebble Model Refinement -- validated, reproducible FESTIM model of tritium release from lithium ceramics</a:t>
                      </a:r>
                      <a:endParaRPr lang="en-GB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633" marR="154633" marT="110452" marB="11045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700" b="0" i="0" u="none" strike="noStrike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Core</a:t>
                      </a:r>
                      <a:endParaRPr lang="en-GB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633" marR="154633" marT="110452" marB="11045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338482"/>
                  </a:ext>
                </a:extLst>
              </a:tr>
              <a:tr h="107978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700" b="0" i="0" u="none" strike="noStrike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Stage 2</a:t>
                      </a:r>
                      <a:endParaRPr lang="en-GB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633" marR="154633" marT="110452" marB="11045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700" b="0" i="0" u="none" strike="noStrike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5-8</a:t>
                      </a:r>
                      <a:endParaRPr lang="en-GB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633" marR="154633" marT="110452" marB="11045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700" b="0" i="0" u="none" strike="noStrike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Helium Purge Loop System Model -- system-level TES model integrating pebble outputs into purge loop behaviour</a:t>
                      </a:r>
                      <a:endParaRPr lang="en-GB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633" marR="154633" marT="110452" marB="11045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700" b="0" i="0" u="none" strike="noStrike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Core</a:t>
                      </a:r>
                      <a:endParaRPr lang="en-GB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633" marR="154633" marT="110452" marB="11045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756120"/>
                  </a:ext>
                </a:extLst>
              </a:tr>
              <a:tr h="107978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700" b="0" i="0" u="none" strike="noStrike">
                          <a:solidFill>
                            <a:srgbClr val="26252C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Stage 3</a:t>
                      </a:r>
                      <a:endParaRPr lang="en-GB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633" marR="154633" marT="110452" marB="11045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9D0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700" b="0" i="0" u="none" strike="noStrike">
                          <a:solidFill>
                            <a:srgbClr val="26252C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9-10 (conditional)</a:t>
                      </a:r>
                      <a:endParaRPr lang="en-GB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633" marR="154633" marT="110452" marB="11045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9D0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700" b="0" i="0" u="none" strike="noStrike">
                          <a:solidFill>
                            <a:srgbClr val="26252C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Plant-Scale Surrogate -- reduced-order model for integration into PathSim/FactorySim fuel cycle frameworks</a:t>
                      </a:r>
                      <a:endParaRPr lang="en-GB" sz="3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633" marR="154633" marT="110452" marB="11045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9D0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GB" sz="1700" b="0" i="0" u="none" strike="noStrike" dirty="0">
                          <a:solidFill>
                            <a:srgbClr val="26252C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Stretch only</a:t>
                      </a:r>
                      <a:endParaRPr lang="en-GB" sz="3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4633" marR="154633" marT="110452" marB="11045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9D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39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064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BF9F-045E-B224-EE5B-55125D2D1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1 – Pebble Model Evaluation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69CEBC-86B9-8882-FD4D-9118EF811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189BC-8C91-C65C-5F36-A2A9D85C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3DB9DD-D40D-1C37-E107-390CC05D1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015782"/>
              </p:ext>
            </p:extLst>
          </p:nvPr>
        </p:nvGraphicFramePr>
        <p:xfrm>
          <a:off x="936914" y="871083"/>
          <a:ext cx="10047918" cy="5102180"/>
        </p:xfrm>
        <a:graphic>
          <a:graphicData uri="http://schemas.openxmlformats.org/drawingml/2006/table">
            <a:tbl>
              <a:tblPr firstRow="1" firstCol="1" bandRow="1"/>
              <a:tblGrid>
                <a:gridCol w="966146">
                  <a:extLst>
                    <a:ext uri="{9D8B030D-6E8A-4147-A177-3AD203B41FA5}">
                      <a16:colId xmlns:a16="http://schemas.microsoft.com/office/drawing/2014/main" val="3584287868"/>
                    </a:ext>
                  </a:extLst>
                </a:gridCol>
                <a:gridCol w="2254340">
                  <a:extLst>
                    <a:ext uri="{9D8B030D-6E8A-4147-A177-3AD203B41FA5}">
                      <a16:colId xmlns:a16="http://schemas.microsoft.com/office/drawing/2014/main" val="3033328572"/>
                    </a:ext>
                  </a:extLst>
                </a:gridCol>
                <a:gridCol w="4508681">
                  <a:extLst>
                    <a:ext uri="{9D8B030D-6E8A-4147-A177-3AD203B41FA5}">
                      <a16:colId xmlns:a16="http://schemas.microsoft.com/office/drawing/2014/main" val="1590076406"/>
                    </a:ext>
                  </a:extLst>
                </a:gridCol>
                <a:gridCol w="2318751">
                  <a:extLst>
                    <a:ext uri="{9D8B030D-6E8A-4147-A177-3AD203B41FA5}">
                      <a16:colId xmlns:a16="http://schemas.microsoft.com/office/drawing/2014/main" val="4225826901"/>
                    </a:ext>
                  </a:extLst>
                </a:gridCol>
              </a:tblGrid>
              <a:tr h="314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effectLst/>
                          <a:latin typeface="Exo"/>
                          <a:ea typeface="Exo"/>
                          <a:cs typeface="Exo"/>
                        </a:rPr>
                        <a:t>Week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1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effectLst/>
                          <a:latin typeface="Exo"/>
                          <a:ea typeface="Exo"/>
                          <a:cs typeface="Exo"/>
                        </a:rPr>
                        <a:t>Theme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1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effectLst/>
                          <a:latin typeface="Exo"/>
                          <a:ea typeface="Exo"/>
                          <a:cs typeface="Exo"/>
                        </a:rPr>
                        <a:t>Key Activities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1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effectLst/>
                          <a:latin typeface="Exo"/>
                          <a:ea typeface="Exo"/>
                          <a:cs typeface="Exo"/>
                        </a:rPr>
                        <a:t>Outcome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1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873164"/>
                  </a:ext>
                </a:extLst>
              </a:tr>
              <a:tr h="1180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1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Model Audit and Onboarding</a:t>
                      </a:r>
                      <a:endParaRPr lang="en-GB" sz="1800" dirty="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Review existing pebble model against FESTIM best practices. Identify parameter gaps. Establish reproducibility standards: version control, run configuration, output structure. Initial engagement with FESTIM development team.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Documented model audit; parameter gap list; reproducibility baseline established</a:t>
                      </a:r>
                      <a:endParaRPr lang="en-GB" sz="1800" dirty="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581533"/>
                  </a:ext>
                </a:extLst>
              </a:tr>
              <a:tr h="1180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2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Physics Refinement</a:t>
                      </a:r>
                      <a:endParaRPr lang="en-GB" sz="1800" dirty="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Refine temperature-dependent transport parameters. Improve sweep gas condition sensitivity. Incorporate irradiation history effects. Work with the team on best-practice parameterisation approaches.</a:t>
                      </a:r>
                      <a:endParaRPr lang="en-GB" sz="1800" dirty="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Updated model with improved physics fidelity; parameters documented with sources and confidence levels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102313"/>
                  </a:ext>
                </a:extLst>
              </a:tr>
              <a:tr h="1180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3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Uncertainty and Experimental Coupling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Apply team-recommended uncertainty handling approaches. Structure model outputs for comparison against measured data. Align output formats with H2 laboratory rig data. Review LIBRA experimental setup experience.</a:t>
                      </a:r>
                      <a:endParaRPr lang="en-GB" sz="1800" dirty="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Uncertainty framework in place; model structured and ready to receive experimental data when available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069736"/>
                  </a:ext>
                </a:extLst>
              </a:tr>
              <a:tr h="1180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4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Benchmarking and Stage 1 Sign-off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Benchmark against published lithium ceramic release data. Document validation status and remaining gaps.</a:t>
                      </a:r>
                      <a:endParaRPr lang="en-GB" sz="1800" dirty="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Benchmarked pebble-scale FESTIM model; benchmarking report; Stage 1 deliverable complete</a:t>
                      </a:r>
                      <a:endParaRPr lang="en-GB" sz="1800" dirty="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7027" marR="87027" marT="62162" marB="62162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515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770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E6B0-35F3-6E04-94AA-E160F3093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2 – Pure Loop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C80F7-461B-7897-1867-D4935B58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FE683-8F27-90B9-E7B7-F853C6FE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6D41059-ED3C-C321-500E-2CEC53F3E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774084"/>
              </p:ext>
            </p:extLst>
          </p:nvPr>
        </p:nvGraphicFramePr>
        <p:xfrm>
          <a:off x="610984" y="936583"/>
          <a:ext cx="10867141" cy="5079206"/>
        </p:xfrm>
        <a:graphic>
          <a:graphicData uri="http://schemas.openxmlformats.org/drawingml/2006/table">
            <a:tbl>
              <a:tblPr firstRow="1" firstCol="1" bandRow="1"/>
              <a:tblGrid>
                <a:gridCol w="1044917">
                  <a:extLst>
                    <a:ext uri="{9D8B030D-6E8A-4147-A177-3AD203B41FA5}">
                      <a16:colId xmlns:a16="http://schemas.microsoft.com/office/drawing/2014/main" val="2392256170"/>
                    </a:ext>
                  </a:extLst>
                </a:gridCol>
                <a:gridCol w="2438141">
                  <a:extLst>
                    <a:ext uri="{9D8B030D-6E8A-4147-A177-3AD203B41FA5}">
                      <a16:colId xmlns:a16="http://schemas.microsoft.com/office/drawing/2014/main" val="2048648327"/>
                    </a:ext>
                  </a:extLst>
                </a:gridCol>
                <a:gridCol w="4876281">
                  <a:extLst>
                    <a:ext uri="{9D8B030D-6E8A-4147-A177-3AD203B41FA5}">
                      <a16:colId xmlns:a16="http://schemas.microsoft.com/office/drawing/2014/main" val="1330331068"/>
                    </a:ext>
                  </a:extLst>
                </a:gridCol>
                <a:gridCol w="2507802">
                  <a:extLst>
                    <a:ext uri="{9D8B030D-6E8A-4147-A177-3AD203B41FA5}">
                      <a16:colId xmlns:a16="http://schemas.microsoft.com/office/drawing/2014/main" val="2104365682"/>
                    </a:ext>
                  </a:extLst>
                </a:gridCol>
              </a:tblGrid>
              <a:tr h="35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effectLst/>
                          <a:latin typeface="Exo"/>
                          <a:ea typeface="Exo"/>
                          <a:cs typeface="Exo"/>
                        </a:rPr>
                        <a:t>Week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1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effectLst/>
                          <a:latin typeface="Exo"/>
                          <a:ea typeface="Exo"/>
                          <a:cs typeface="Exo"/>
                        </a:rPr>
                        <a:t>Theme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1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effectLst/>
                          <a:latin typeface="Exo"/>
                          <a:ea typeface="Exo"/>
                          <a:cs typeface="Exo"/>
                        </a:rPr>
                        <a:t>Key Activities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1C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effectLst/>
                          <a:latin typeface="Exo"/>
                          <a:ea typeface="Exo"/>
                          <a:cs typeface="Exo"/>
                        </a:rPr>
                        <a:t>Outcome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1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015198"/>
                  </a:ext>
                </a:extLst>
              </a:tr>
              <a:tr h="13264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5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Architecture and Setup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Design helium purge loop model structure, small volume simulation. Understand FESTIM best practice for multi-component system-scale simulations. Define purge loop geometry and component definitions.</a:t>
                      </a:r>
                      <a:endParaRPr lang="en-GB" sz="1800" dirty="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Purge loop architecture documented; FESTIM system model scaffolding in place</a:t>
                      </a:r>
                      <a:endParaRPr lang="en-GB" sz="1800" dirty="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288508"/>
                  </a:ext>
                </a:extLst>
              </a:tr>
              <a:tr h="1132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6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Core Model Build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Implement conventional sweep gas circuit with getter bed extraction. Model tritium partial pressure evolution blanket and purge loop. Frame effects of pebble mobilization (gravity fed).</a:t>
                      </a:r>
                      <a:endParaRPr lang="en-GB" sz="1800" dirty="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Working purge loop model; baseline tritium partial pressure profiles generated</a:t>
                      </a:r>
                      <a:endParaRPr lang="en-GB" sz="1800" dirty="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064099"/>
                  </a:ext>
                </a:extLst>
              </a:tr>
              <a:tr h="1132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7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Sensitivity and Operating Conditions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Parametric study of extraction efficiency vs. operating conditions. Assess effects of pebble bed packing and network geometry on bulk release behaviour. Assess flow conditions for pebbles themselves.</a:t>
                      </a:r>
                      <a:endParaRPr lang="en-GB" sz="1800" dirty="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Sensitivity results; identification of key design levers for TES operating conditions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244333"/>
                  </a:ext>
                </a:extLst>
              </a:tr>
              <a:tr h="11323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8</a:t>
                      </a:r>
                      <a:endParaRPr lang="en-GB" sz="180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Cycling Simulations and Stage 2 Sign-off</a:t>
                      </a:r>
                      <a:endParaRPr lang="en-GB" sz="1800" dirty="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Run transient cycling simulations to assess pebble performance under load-following conditions. Package results for Infinity II TES design trade studies.</a:t>
                      </a:r>
                      <a:endParaRPr lang="en-GB" sz="1800" dirty="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>
                          <a:solidFill>
                            <a:srgbClr val="323235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Cycling simulation results; Stage 2 deliverable packaged for the Infinity II design team</a:t>
                      </a:r>
                      <a:endParaRPr lang="en-GB" sz="1800" dirty="0">
                        <a:solidFill>
                          <a:srgbClr val="323235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>
                    <a:lnL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2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88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607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03748-B130-0411-DE8D-7C224F5C3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62C86-C73F-65CC-AB79-C52412891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PathSim</a:t>
            </a:r>
            <a:r>
              <a:rPr lang="en-US" dirty="0"/>
              <a:t> / Factory Style Model</a:t>
            </a:r>
          </a:p>
          <a:p>
            <a:r>
              <a:rPr lang="en-US" dirty="0"/>
              <a:t>Looking at how upstream and downstream systems interplay</a:t>
            </a:r>
          </a:p>
          <a:p>
            <a:pPr lvl="1"/>
            <a:r>
              <a:rPr lang="en-US" dirty="0"/>
              <a:t>E.g. Blanket, Extraction, HX </a:t>
            </a:r>
          </a:p>
          <a:p>
            <a:r>
              <a:rPr lang="en-US" dirty="0"/>
              <a:t>Some of these could be analytical solutions, or FESTIM models themselves</a:t>
            </a:r>
          </a:p>
          <a:p>
            <a:r>
              <a:rPr lang="en-US" dirty="0"/>
              <a:t>Interesting effects would be:</a:t>
            </a:r>
          </a:p>
          <a:p>
            <a:pPr lvl="1"/>
            <a:r>
              <a:rPr lang="en-US" dirty="0"/>
              <a:t>Recirculating pebble tritium concentration</a:t>
            </a:r>
          </a:p>
          <a:p>
            <a:pPr lvl="1"/>
            <a:r>
              <a:rPr lang="en-US" dirty="0"/>
              <a:t>Gettering / permeating downstream</a:t>
            </a:r>
          </a:p>
          <a:p>
            <a:pPr lvl="1"/>
            <a:r>
              <a:rPr lang="en-US" dirty="0"/>
              <a:t>Dynamic control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31C4E-1D07-1BE3-153A-11FE1D3C2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C9755-02D5-7A83-85DE-91C76D15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48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70B5-2200-F05A-EAB4-656EA2F3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F620C-767C-3DF9-8FE5-AD164D4D3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0B477-2214-9A0D-3352-DC25AAB4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A3565C-56C9-74D2-9BB6-C5AE59E336EC}"/>
              </a:ext>
            </a:extLst>
          </p:cNvPr>
          <p:cNvSpPr/>
          <p:nvPr/>
        </p:nvSpPr>
        <p:spPr>
          <a:xfrm>
            <a:off x="4793512" y="2716618"/>
            <a:ext cx="2604976" cy="14247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1D Model verified vs. 3D for pebble release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65C4B1-06BB-2505-BD1A-5275825AA32B}"/>
              </a:ext>
            </a:extLst>
          </p:cNvPr>
          <p:cNvSpPr/>
          <p:nvPr/>
        </p:nvSpPr>
        <p:spPr>
          <a:xfrm>
            <a:off x="346048" y="979825"/>
            <a:ext cx="1674139" cy="467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Stage 1</a:t>
            </a:r>
          </a:p>
        </p:txBody>
      </p:sp>
    </p:spTree>
    <p:extLst>
      <p:ext uri="{BB962C8B-B14F-4D97-AF65-F5344CB8AC3E}">
        <p14:creationId xmlns:p14="http://schemas.microsoft.com/office/powerpoint/2010/main" val="2280405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166AC-64F9-CCE1-CEB4-6ED85815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5FC3BA2-6D48-ABBD-871B-92D2ED4C53B7}"/>
              </a:ext>
            </a:extLst>
          </p:cNvPr>
          <p:cNvSpPr/>
          <p:nvPr/>
        </p:nvSpPr>
        <p:spPr>
          <a:xfrm>
            <a:off x="4793512" y="2631558"/>
            <a:ext cx="2604976" cy="159488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53128-7906-2458-584F-5BF835932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0EDA0-1960-B811-B2DA-26CEEE21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AB266F-A1BD-5289-4C0E-514EAC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F86CA8-2291-B4A7-7FA7-EA1F6E84724C}"/>
              </a:ext>
            </a:extLst>
          </p:cNvPr>
          <p:cNvSpPr/>
          <p:nvPr/>
        </p:nvSpPr>
        <p:spPr>
          <a:xfrm>
            <a:off x="5303875" y="3003698"/>
            <a:ext cx="1584251" cy="8506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1D Model verified vs. 3D for pebble release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64043-0F47-874C-78E0-36EE3F2A7D0A}"/>
              </a:ext>
            </a:extLst>
          </p:cNvPr>
          <p:cNvSpPr txBox="1"/>
          <p:nvPr/>
        </p:nvSpPr>
        <p:spPr>
          <a:xfrm>
            <a:off x="4930849" y="2631558"/>
            <a:ext cx="2330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Sweep Gas + Pebble Recirc.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9F4B07-2D69-80F8-7DF5-3461CE9DDDD7}"/>
              </a:ext>
            </a:extLst>
          </p:cNvPr>
          <p:cNvSpPr/>
          <p:nvPr/>
        </p:nvSpPr>
        <p:spPr>
          <a:xfrm>
            <a:off x="346048" y="979825"/>
            <a:ext cx="1674139" cy="467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Stage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8307AA-678E-D8BF-2CC7-8106D8E48B6C}"/>
              </a:ext>
            </a:extLst>
          </p:cNvPr>
          <p:cNvSpPr/>
          <p:nvPr/>
        </p:nvSpPr>
        <p:spPr>
          <a:xfrm>
            <a:off x="346048" y="1578792"/>
            <a:ext cx="1674139" cy="46783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Stage 2</a:t>
            </a:r>
          </a:p>
        </p:txBody>
      </p:sp>
    </p:spTree>
    <p:extLst>
      <p:ext uri="{BB962C8B-B14F-4D97-AF65-F5344CB8AC3E}">
        <p14:creationId xmlns:p14="http://schemas.microsoft.com/office/powerpoint/2010/main" val="923535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4542D-309F-4A38-EACC-841C5ED0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F552C6-FF30-A772-7C9A-9773071DD2F1}"/>
              </a:ext>
            </a:extLst>
          </p:cNvPr>
          <p:cNvSpPr/>
          <p:nvPr/>
        </p:nvSpPr>
        <p:spPr>
          <a:xfrm>
            <a:off x="2721935" y="2634491"/>
            <a:ext cx="2604976" cy="159488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89DE7-33B3-6B5D-877E-25C943C8F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C29BE2-AEB9-AFDE-8E2C-E2095973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F45301-D7BD-0F49-C83B-32AB2CCF1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3E9074-AF35-E5A4-E1AB-78BFD42B1DA4}"/>
              </a:ext>
            </a:extLst>
          </p:cNvPr>
          <p:cNvSpPr/>
          <p:nvPr/>
        </p:nvSpPr>
        <p:spPr>
          <a:xfrm>
            <a:off x="3232298" y="3006631"/>
            <a:ext cx="1584251" cy="8506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1D Model verified vs. 3D for pebble release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9948D-17A0-0E58-89ED-01252C4707F8}"/>
              </a:ext>
            </a:extLst>
          </p:cNvPr>
          <p:cNvSpPr/>
          <p:nvPr/>
        </p:nvSpPr>
        <p:spPr>
          <a:xfrm>
            <a:off x="6983819" y="926939"/>
            <a:ext cx="2604976" cy="159488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Tritium Extraction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FB8EEB-9690-1A0C-FD51-25687DB237DB}"/>
              </a:ext>
            </a:extLst>
          </p:cNvPr>
          <p:cNvSpPr/>
          <p:nvPr/>
        </p:nvSpPr>
        <p:spPr>
          <a:xfrm>
            <a:off x="6983819" y="4544061"/>
            <a:ext cx="2604976" cy="159488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Heat Exchanger</a:t>
            </a: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E15EFF07-6826-E1A6-3692-D26E93A98849}"/>
              </a:ext>
            </a:extLst>
          </p:cNvPr>
          <p:cNvCxnSpPr>
            <a:stCxn id="3" idx="0"/>
          </p:cNvCxnSpPr>
          <p:nvPr/>
        </p:nvCxnSpPr>
        <p:spPr>
          <a:xfrm rot="5400000" flipH="1" flipV="1">
            <a:off x="5021532" y="672204"/>
            <a:ext cx="965179" cy="295939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DE8BC307-F380-3810-4A3A-780958356E79}"/>
              </a:ext>
            </a:extLst>
          </p:cNvPr>
          <p:cNvCxnSpPr>
            <a:cxnSpLocks/>
            <a:stCxn id="8" idx="3"/>
            <a:endCxn id="9" idx="3"/>
          </p:cNvCxnSpPr>
          <p:nvPr/>
        </p:nvCxnSpPr>
        <p:spPr>
          <a:xfrm>
            <a:off x="9588795" y="1724381"/>
            <a:ext cx="12700" cy="3617122"/>
          </a:xfrm>
          <a:prstGeom prst="curvedConnector3">
            <a:avLst>
              <a:gd name="adj1" fmla="val 950232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D5BE1193-8B92-FB6E-EB3A-D4C5781558F1}"/>
              </a:ext>
            </a:extLst>
          </p:cNvPr>
          <p:cNvCxnSpPr>
            <a:cxnSpLocks/>
            <a:stCxn id="9" idx="1"/>
            <a:endCxn id="3" idx="2"/>
          </p:cNvCxnSpPr>
          <p:nvPr/>
        </p:nvCxnSpPr>
        <p:spPr>
          <a:xfrm rot="10800000">
            <a:off x="4024423" y="4229375"/>
            <a:ext cx="2959396" cy="111212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A61AC49-AF59-04BC-7EDE-3D5C2033DD06}"/>
              </a:ext>
            </a:extLst>
          </p:cNvPr>
          <p:cNvSpPr/>
          <p:nvPr/>
        </p:nvSpPr>
        <p:spPr>
          <a:xfrm>
            <a:off x="346048" y="979825"/>
            <a:ext cx="1674139" cy="467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Stage 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D4E3DC-4366-1262-20F0-2B02B82EFF29}"/>
              </a:ext>
            </a:extLst>
          </p:cNvPr>
          <p:cNvSpPr/>
          <p:nvPr/>
        </p:nvSpPr>
        <p:spPr>
          <a:xfrm>
            <a:off x="346048" y="1578792"/>
            <a:ext cx="1674139" cy="46783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Stage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D82857-8F5D-0774-00D7-8805E99694D1}"/>
              </a:ext>
            </a:extLst>
          </p:cNvPr>
          <p:cNvSpPr/>
          <p:nvPr/>
        </p:nvSpPr>
        <p:spPr>
          <a:xfrm>
            <a:off x="346047" y="2177759"/>
            <a:ext cx="1674139" cy="46783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Stage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849667-A4F9-D970-D718-714BA2E02336}"/>
              </a:ext>
            </a:extLst>
          </p:cNvPr>
          <p:cNvSpPr txBox="1"/>
          <p:nvPr/>
        </p:nvSpPr>
        <p:spPr>
          <a:xfrm>
            <a:off x="2859271" y="2634490"/>
            <a:ext cx="2330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Sweep Gas + Pebble Recirc.</a:t>
            </a:r>
          </a:p>
        </p:txBody>
      </p:sp>
    </p:spTree>
    <p:extLst>
      <p:ext uri="{BB962C8B-B14F-4D97-AF65-F5344CB8AC3E}">
        <p14:creationId xmlns:p14="http://schemas.microsoft.com/office/powerpoint/2010/main" val="474612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F03E1-1CF9-4E20-D543-4778563B1F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FESTIM will be used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8699A7-0E7D-1A0F-7D1C-8FDB336FB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71671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AEEF3-C95B-8D50-DB70-57D8ACB6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Utilization in T1E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42BF6-4C54-C0FC-7025-09FDFCE3F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FESTIM will be integrated into system where there are no existing analytical solutions, and transient work is desired</a:t>
            </a:r>
          </a:p>
          <a:p>
            <a:r>
              <a:rPr lang="en-US" dirty="0"/>
              <a:t>The fellowship will allow us to build this up for the pebbles, but also give us the workflow for other systems</a:t>
            </a:r>
          </a:p>
          <a:p>
            <a:r>
              <a:rPr lang="en-US" dirty="0"/>
              <a:t>These models will always need to be feeding process models at the higher level, so that integration will be key</a:t>
            </a:r>
          </a:p>
          <a:p>
            <a:r>
              <a:rPr lang="en-US" dirty="0"/>
              <a:t>Similarly – the length scales of the components themselves e.g. blankets, is very large, therefore understand how to translate through the length scales will be key, in addition to the time scales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F207E8-C4BB-303F-8EE2-9671D56E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A7255-B54E-2201-8CA8-DEECB51E6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558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80684-554A-694D-5856-A4A4A6C1D9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4AB0E8-CA97-C9F8-C47F-05F3C388E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548429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CEF3-E2BD-50C3-768E-E40F979677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New Section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7D63E-BBAB-99DE-59DE-9C39007DF6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Use this slide to introduce a new section or topic.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4FE42-46EB-1B57-452A-106E15084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22BE6-873D-C41C-426E-F71BDD187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41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9535D-C55B-890F-9B06-E717324CD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Section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7D4F6-9B37-939F-DA73-E8DD06A48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DCEB-35FB-7B30-FBB3-26A3419F1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A3D40-749F-FC19-54AD-A89B15CC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Content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B4E2-E958-FAD2-477D-3AF39C9A2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Fill this slide with your content</a:t>
            </a:r>
            <a:endParaRPr lang="en-US" dirty="0"/>
          </a:p>
          <a:p>
            <a:pPr lvl="1"/>
            <a:r>
              <a:rPr lang="en-US"/>
              <a:t>Press tab for a sub-bullet</a:t>
            </a:r>
          </a:p>
          <a:p>
            <a:pPr lvl="1"/>
            <a:r>
              <a:rPr lang="en-US"/>
              <a:t>Create a new sub-bullet then press and hold shift + tab…</a:t>
            </a:r>
          </a:p>
          <a:p>
            <a:r>
              <a:rPr lang="en-US"/>
              <a:t>…To come back here!	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36D4A3-86A6-B4B4-EC09-C21456D5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1AB6-FCF0-BFDA-1C00-846744A2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851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997D-5813-8413-6797-339480BD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Text-only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F0F8B-E902-E43A-7382-D94185803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Is your slide only text? Want it to look cool?</a:t>
            </a:r>
          </a:p>
          <a:p>
            <a:pPr lvl="1"/>
            <a:r>
              <a:rPr lang="en-US"/>
              <a:t>Use this slide when you have a wall of text but need some visual interest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82020-A344-1E2E-7D89-99E8AC4F3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D2117-C1D9-71B7-FD17-82AADA74A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92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DC696-6096-2E32-E1A8-11724F53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EA466-08D6-A26A-352A-A1A39392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 + Subtitle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A530C-8223-2BD6-2AD7-154EC42EE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623"/>
            <a:ext cx="10515600" cy="4034404"/>
          </a:xfrm>
        </p:spPr>
        <p:txBody>
          <a:bodyPr/>
          <a:lstStyle/>
          <a:p>
            <a:r>
              <a:rPr lang="en-US"/>
              <a:t>Now expand upon the topic in the subtitle, etc.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AE961-5E66-2525-F9C1-32691C268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6EF9A7-A732-EC11-BFDA-3533E4E09579}"/>
              </a:ext>
            </a:extLst>
          </p:cNvPr>
          <p:cNvSpPr txBox="1"/>
          <p:nvPr/>
        </p:nvSpPr>
        <p:spPr>
          <a:xfrm>
            <a:off x="838200" y="1063242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This is a subtitle about the content of this slide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ADBD52D-6B01-FC8E-99A2-3B8977402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86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FC5C0-40E5-E7C5-60FF-AB0ECC11C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6F94-1074-4D45-417C-460249B7B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 + Images Slide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3F0DB-FE3A-91FC-C929-16826302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pic>
        <p:nvPicPr>
          <p:cNvPr id="7" name="Picture 6" descr="A machine with a blue and purple object&#10;&#10;AI-generated content may be incorrect.">
            <a:extLst>
              <a:ext uri="{FF2B5EF4-FFF2-40B4-BE49-F238E27FC236}">
                <a16:creationId xmlns:a16="http://schemas.microsoft.com/office/drawing/2014/main" id="{90143C4D-73E3-EBC6-1FDF-743211DABEC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5352" y="845446"/>
            <a:ext cx="4499265" cy="25308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91C42A-1643-B505-C87A-0367533A0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038"/>
            <a:ext cx="5375564" cy="4588084"/>
          </a:xfrm>
        </p:spPr>
        <p:txBody>
          <a:bodyPr/>
          <a:lstStyle/>
          <a:p>
            <a:r>
              <a:rPr lang="en-US"/>
              <a:t>Fill this slide with you content</a:t>
            </a:r>
          </a:p>
          <a:p>
            <a:pPr lvl="1"/>
            <a:r>
              <a:rPr lang="en-US"/>
              <a:t>Press tab for a sub-bullet</a:t>
            </a:r>
          </a:p>
          <a:p>
            <a:pPr lvl="1"/>
            <a:r>
              <a:rPr lang="en-US"/>
              <a:t>Create a new sub-bullet then press and hold shift + tab…</a:t>
            </a:r>
          </a:p>
          <a:p>
            <a:r>
              <a:rPr lang="en-US"/>
              <a:t>…To come back here!	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12" name="Picture 11" descr="A machine with a round door&#10;&#10;AI-generated content may be incorrect.">
            <a:extLst>
              <a:ext uri="{FF2B5EF4-FFF2-40B4-BE49-F238E27FC236}">
                <a16:creationId xmlns:a16="http://schemas.microsoft.com/office/drawing/2014/main" id="{3BBCDEFB-F84E-79E6-E930-6544E057AD7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5353" y="3511400"/>
            <a:ext cx="4499264" cy="253083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F5B377-C373-FBE0-1B9C-57144139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27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00858BC-A92F-55C6-DBA9-3DE18A0D1EA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98918" y="710329"/>
            <a:ext cx="5993081" cy="547558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1EFEACA-D213-8DE1-22B3-2D0EF698F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 + Image Slide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D8D89-0EA2-4C08-6178-19DE892F1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655" y="1134958"/>
            <a:ext cx="4790704" cy="4588084"/>
          </a:xfrm>
        </p:spPr>
        <p:txBody>
          <a:bodyPr/>
          <a:lstStyle/>
          <a:p>
            <a:r>
              <a:rPr lang="en-US"/>
              <a:t>When you only have one image, try to format it like this</a:t>
            </a:r>
          </a:p>
          <a:p>
            <a:r>
              <a:rPr lang="en-US"/>
              <a:t>You can use this slide and just change the image</a:t>
            </a:r>
          </a:p>
          <a:p>
            <a:pPr lvl="1"/>
            <a:r>
              <a:rPr lang="en-US"/>
              <a:t>Select the image on the right</a:t>
            </a:r>
          </a:p>
          <a:p>
            <a:pPr lvl="1"/>
            <a:r>
              <a:rPr lang="en-US"/>
              <a:t>Go to “Picture Format” in the upper menu</a:t>
            </a:r>
          </a:p>
          <a:p>
            <a:pPr lvl="1"/>
            <a:r>
              <a:rPr lang="en-US"/>
              <a:t>Toward the left-hand side look for “Change Picture”</a:t>
            </a:r>
          </a:p>
          <a:p>
            <a:pPr lvl="1"/>
            <a:r>
              <a:rPr lang="en-US"/>
              <a:t>Select “From a File…” and add your own image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69409-4CC4-7C66-69EB-10581A00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39881-12E5-4905-0B00-3B265574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52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metal curved object with gold colored tubes&#10;&#10;AI-generated content may be incorrect.">
            <a:extLst>
              <a:ext uri="{FF2B5EF4-FFF2-40B4-BE49-F238E27FC236}">
                <a16:creationId xmlns:a16="http://schemas.microsoft.com/office/drawing/2014/main" id="{462FE795-AD33-8AA2-CE2F-96A66ED4EFD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0" name="Picture 9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BDE55B06-48DC-F384-A3EA-86A83B66293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34"/>
          <a:stretch/>
        </p:blipFill>
        <p:spPr>
          <a:xfrm>
            <a:off x="0" y="1332"/>
            <a:ext cx="11346418" cy="618611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5ECED7B-9597-F3E5-2B17-AD8D13FF5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Highlight Image + Notes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A24B8D-5582-7595-FA8B-A9B8FA5CB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ED2EB4-2548-3B19-DDD9-6D77BF3F3E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8697" y="1104930"/>
            <a:ext cx="4877303" cy="45227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Use a large photo to emphasize your point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To change the image on this </a:t>
            </a:r>
            <a:r>
              <a:rPr lang="en-US">
                <a:ea typeface="+mn-lt"/>
                <a:cs typeface="+mn-lt"/>
              </a:rPr>
              <a:t>slide:</a:t>
            </a:r>
          </a:p>
          <a:p>
            <a:pPr lvl="1"/>
            <a:r>
              <a:rPr lang="en-US" dirty="0">
                <a:ea typeface="+mn-lt"/>
                <a:cs typeface="+mn-lt"/>
              </a:rPr>
              <a:t>Select the image on the right</a:t>
            </a:r>
            <a:endParaRPr lang="en-US" sz="2200" dirty="0">
              <a:ea typeface="+mn-lt"/>
              <a:cs typeface="+mn-lt"/>
            </a:endParaRPr>
          </a:p>
          <a:p>
            <a:pPr marL="685800">
              <a:spcBef>
                <a:spcPts val="500"/>
              </a:spcBef>
            </a:pPr>
            <a:r>
              <a:rPr lang="en-US" sz="2000" dirty="0">
                <a:ea typeface="+mn-lt"/>
                <a:cs typeface="+mn-lt"/>
              </a:rPr>
              <a:t>Go to “Picture Format” in the upper </a:t>
            </a:r>
            <a:r>
              <a:rPr lang="en-US" sz="2000">
                <a:ea typeface="+mn-lt"/>
                <a:cs typeface="+mn-lt"/>
              </a:rPr>
              <a:t>menu </a:t>
            </a:r>
            <a:endParaRPr lang="en-US" sz="2000"/>
          </a:p>
          <a:p>
            <a:pPr lvl="1"/>
            <a:r>
              <a:rPr lang="en-US" dirty="0">
                <a:ea typeface="+mn-lt"/>
                <a:cs typeface="+mn-lt"/>
              </a:rPr>
              <a:t>Toward the left-hand side look for “Change Picture” 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Select “From a File…” and add your own image</a:t>
            </a:r>
            <a:endParaRPr lang="en-US" dirty="0"/>
          </a:p>
          <a:p>
            <a:pPr lvl="1"/>
            <a:endParaRPr lang="en-US" sz="2200" dirty="0">
              <a:ea typeface="+mn-lt"/>
              <a:cs typeface="+mn-lt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88BA2-88BF-4C18-F55D-6CA25A52E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09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FC6C8-3497-83BA-6E88-F22417EEB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6EFA-985E-9D49-7AB5-6F15A65D9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Timeline Slide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2156D-3A59-3D4F-AD76-63AB41CB2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52D48F-6430-ED57-DC48-F149F5255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23930"/>
              </p:ext>
            </p:extLst>
          </p:nvPr>
        </p:nvGraphicFramePr>
        <p:xfrm>
          <a:off x="838198" y="3243580"/>
          <a:ext cx="1051560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37933759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87286426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9366835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2806242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96778371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73928949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991650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2030s…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1048999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CADE2854-7AD4-42CE-9531-B5C1E33BF18D}"/>
              </a:ext>
            </a:extLst>
          </p:cNvPr>
          <p:cNvGrpSpPr/>
          <p:nvPr/>
        </p:nvGrpSpPr>
        <p:grpSpPr>
          <a:xfrm>
            <a:off x="356260" y="1141887"/>
            <a:ext cx="2458192" cy="2024287"/>
            <a:chOff x="285008" y="1143683"/>
            <a:chExt cx="2458192" cy="2024287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C8DE5EF5-71B8-A12B-C023-F75628009857}"/>
                </a:ext>
              </a:extLst>
            </p:cNvPr>
            <p:cNvSpPr/>
            <p:nvPr/>
          </p:nvSpPr>
          <p:spPr>
            <a:xfrm>
              <a:off x="285008" y="1143683"/>
              <a:ext cx="2458192" cy="1739280"/>
            </a:xfrm>
            <a:prstGeom prst="roundRect">
              <a:avLst>
                <a:gd name="adj" fmla="val 10522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riangle 8">
              <a:extLst>
                <a:ext uri="{FF2B5EF4-FFF2-40B4-BE49-F238E27FC236}">
                  <a16:creationId xmlns:a16="http://schemas.microsoft.com/office/drawing/2014/main" id="{B2AD8D5D-3021-6524-0300-AC2D91761ACE}"/>
                </a:ext>
              </a:extLst>
            </p:cNvPr>
            <p:cNvSpPr/>
            <p:nvPr/>
          </p:nvSpPr>
          <p:spPr>
            <a:xfrm flipV="1">
              <a:off x="1347849" y="2882963"/>
              <a:ext cx="332509" cy="28500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86F61F5-E9E5-CAEA-670A-8300635D7FCE}"/>
              </a:ext>
            </a:extLst>
          </p:cNvPr>
          <p:cNvGrpSpPr/>
          <p:nvPr/>
        </p:nvGrpSpPr>
        <p:grpSpPr>
          <a:xfrm flipV="1">
            <a:off x="1850572" y="3691826"/>
            <a:ext cx="2458192" cy="2024287"/>
            <a:chOff x="285008" y="1143683"/>
            <a:chExt cx="2458192" cy="202428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BE699F23-F1FF-4EF3-7C4D-94FC75FF55AC}"/>
                </a:ext>
              </a:extLst>
            </p:cNvPr>
            <p:cNvSpPr/>
            <p:nvPr/>
          </p:nvSpPr>
          <p:spPr>
            <a:xfrm>
              <a:off x="285008" y="1143683"/>
              <a:ext cx="2458192" cy="1739280"/>
            </a:xfrm>
            <a:prstGeom prst="roundRect">
              <a:avLst>
                <a:gd name="adj" fmla="val 10522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riangle 12">
              <a:extLst>
                <a:ext uri="{FF2B5EF4-FFF2-40B4-BE49-F238E27FC236}">
                  <a16:creationId xmlns:a16="http://schemas.microsoft.com/office/drawing/2014/main" id="{3E89A194-8315-6329-E243-0AF4CD1FE194}"/>
                </a:ext>
              </a:extLst>
            </p:cNvPr>
            <p:cNvSpPr/>
            <p:nvPr/>
          </p:nvSpPr>
          <p:spPr>
            <a:xfrm flipV="1">
              <a:off x="1347849" y="2882963"/>
              <a:ext cx="332509" cy="28500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F5CF08-2584-2984-E1DD-B3F98C59BE47}"/>
              </a:ext>
            </a:extLst>
          </p:cNvPr>
          <p:cNvGrpSpPr/>
          <p:nvPr/>
        </p:nvGrpSpPr>
        <p:grpSpPr>
          <a:xfrm>
            <a:off x="3370613" y="1137687"/>
            <a:ext cx="2458192" cy="2024287"/>
            <a:chOff x="285008" y="1143683"/>
            <a:chExt cx="2458192" cy="2024287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DD6970C9-5509-4B7D-7621-07E954E3F898}"/>
                </a:ext>
              </a:extLst>
            </p:cNvPr>
            <p:cNvSpPr/>
            <p:nvPr/>
          </p:nvSpPr>
          <p:spPr>
            <a:xfrm>
              <a:off x="285008" y="1143683"/>
              <a:ext cx="2458192" cy="1739280"/>
            </a:xfrm>
            <a:prstGeom prst="roundRect">
              <a:avLst>
                <a:gd name="adj" fmla="val 10522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riangle 15">
              <a:extLst>
                <a:ext uri="{FF2B5EF4-FFF2-40B4-BE49-F238E27FC236}">
                  <a16:creationId xmlns:a16="http://schemas.microsoft.com/office/drawing/2014/main" id="{F4E937A6-03E7-3C1C-304B-ABF252370E88}"/>
                </a:ext>
              </a:extLst>
            </p:cNvPr>
            <p:cNvSpPr/>
            <p:nvPr/>
          </p:nvSpPr>
          <p:spPr>
            <a:xfrm flipV="1">
              <a:off x="1347849" y="2882963"/>
              <a:ext cx="332509" cy="28500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5D6883C-4E9F-D6C6-61E9-B6CB7844CF10}"/>
              </a:ext>
            </a:extLst>
          </p:cNvPr>
          <p:cNvGrpSpPr/>
          <p:nvPr/>
        </p:nvGrpSpPr>
        <p:grpSpPr>
          <a:xfrm>
            <a:off x="6384966" y="1133487"/>
            <a:ext cx="2458192" cy="2024287"/>
            <a:chOff x="285008" y="1143683"/>
            <a:chExt cx="2458192" cy="2024287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03B1C695-DD10-4D46-374A-3A75B08FEC74}"/>
                </a:ext>
              </a:extLst>
            </p:cNvPr>
            <p:cNvSpPr/>
            <p:nvPr/>
          </p:nvSpPr>
          <p:spPr>
            <a:xfrm>
              <a:off x="285008" y="1143683"/>
              <a:ext cx="2458192" cy="1739280"/>
            </a:xfrm>
            <a:prstGeom prst="roundRect">
              <a:avLst>
                <a:gd name="adj" fmla="val 10522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riangle 18">
              <a:extLst>
                <a:ext uri="{FF2B5EF4-FFF2-40B4-BE49-F238E27FC236}">
                  <a16:creationId xmlns:a16="http://schemas.microsoft.com/office/drawing/2014/main" id="{7181AA97-4988-A9C0-981F-73920B1AE3F0}"/>
                </a:ext>
              </a:extLst>
            </p:cNvPr>
            <p:cNvSpPr/>
            <p:nvPr/>
          </p:nvSpPr>
          <p:spPr>
            <a:xfrm flipV="1">
              <a:off x="1347849" y="2882963"/>
              <a:ext cx="332509" cy="28500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F8F6441-C11F-FA1B-5B8B-58E977F8015E}"/>
              </a:ext>
            </a:extLst>
          </p:cNvPr>
          <p:cNvGrpSpPr/>
          <p:nvPr/>
        </p:nvGrpSpPr>
        <p:grpSpPr>
          <a:xfrm>
            <a:off x="9399319" y="1129287"/>
            <a:ext cx="2458192" cy="2024287"/>
            <a:chOff x="285008" y="1143683"/>
            <a:chExt cx="2458192" cy="2024287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8224F5E3-C8A7-E5AA-5B2B-1BB05B8D225B}"/>
                </a:ext>
              </a:extLst>
            </p:cNvPr>
            <p:cNvSpPr/>
            <p:nvPr/>
          </p:nvSpPr>
          <p:spPr>
            <a:xfrm>
              <a:off x="285008" y="1143683"/>
              <a:ext cx="2458192" cy="1739280"/>
            </a:xfrm>
            <a:prstGeom prst="roundRect">
              <a:avLst>
                <a:gd name="adj" fmla="val 10522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riangle 21">
              <a:extLst>
                <a:ext uri="{FF2B5EF4-FFF2-40B4-BE49-F238E27FC236}">
                  <a16:creationId xmlns:a16="http://schemas.microsoft.com/office/drawing/2014/main" id="{DC386DA9-CA0A-42FC-B53E-238AAEBA0033}"/>
                </a:ext>
              </a:extLst>
            </p:cNvPr>
            <p:cNvSpPr/>
            <p:nvPr/>
          </p:nvSpPr>
          <p:spPr>
            <a:xfrm flipV="1">
              <a:off x="1347849" y="2882963"/>
              <a:ext cx="332509" cy="28500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FB973A-0DE9-F12E-18A4-001C8F23EB72}"/>
              </a:ext>
            </a:extLst>
          </p:cNvPr>
          <p:cNvGrpSpPr/>
          <p:nvPr/>
        </p:nvGrpSpPr>
        <p:grpSpPr>
          <a:xfrm flipV="1">
            <a:off x="4866903" y="3700226"/>
            <a:ext cx="2458192" cy="2024287"/>
            <a:chOff x="285008" y="1143683"/>
            <a:chExt cx="2458192" cy="2024287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44ED8A0-F85C-359F-4286-6B509CAFE343}"/>
                </a:ext>
              </a:extLst>
            </p:cNvPr>
            <p:cNvSpPr/>
            <p:nvPr/>
          </p:nvSpPr>
          <p:spPr>
            <a:xfrm>
              <a:off x="285008" y="1143683"/>
              <a:ext cx="2458192" cy="1739280"/>
            </a:xfrm>
            <a:prstGeom prst="roundRect">
              <a:avLst>
                <a:gd name="adj" fmla="val 10522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riangle 24">
              <a:extLst>
                <a:ext uri="{FF2B5EF4-FFF2-40B4-BE49-F238E27FC236}">
                  <a16:creationId xmlns:a16="http://schemas.microsoft.com/office/drawing/2014/main" id="{22255292-BBB8-F6AC-1B7B-9CD8E7C268D5}"/>
                </a:ext>
              </a:extLst>
            </p:cNvPr>
            <p:cNvSpPr/>
            <p:nvPr/>
          </p:nvSpPr>
          <p:spPr>
            <a:xfrm flipV="1">
              <a:off x="1347849" y="2882963"/>
              <a:ext cx="332509" cy="28500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63006F8-79AA-DBC9-1ED0-6DC4E59CE6A6}"/>
              </a:ext>
            </a:extLst>
          </p:cNvPr>
          <p:cNvGrpSpPr/>
          <p:nvPr/>
        </p:nvGrpSpPr>
        <p:grpSpPr>
          <a:xfrm flipV="1">
            <a:off x="7883234" y="3708626"/>
            <a:ext cx="2458192" cy="2024287"/>
            <a:chOff x="285008" y="1143683"/>
            <a:chExt cx="2458192" cy="2024287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D7482295-74F4-DE62-E685-B0A810A2E344}"/>
                </a:ext>
              </a:extLst>
            </p:cNvPr>
            <p:cNvSpPr/>
            <p:nvPr/>
          </p:nvSpPr>
          <p:spPr>
            <a:xfrm>
              <a:off x="285008" y="1143683"/>
              <a:ext cx="2458192" cy="1739280"/>
            </a:xfrm>
            <a:prstGeom prst="roundRect">
              <a:avLst>
                <a:gd name="adj" fmla="val 10522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riangle 27">
              <a:extLst>
                <a:ext uri="{FF2B5EF4-FFF2-40B4-BE49-F238E27FC236}">
                  <a16:creationId xmlns:a16="http://schemas.microsoft.com/office/drawing/2014/main" id="{7BF22138-D424-1187-FB26-AA3A1866A766}"/>
                </a:ext>
              </a:extLst>
            </p:cNvPr>
            <p:cNvSpPr/>
            <p:nvPr/>
          </p:nvSpPr>
          <p:spPr>
            <a:xfrm flipV="1">
              <a:off x="1347849" y="2882963"/>
              <a:ext cx="332509" cy="285007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E3184AC-FEF3-508A-0602-93B1F93F8B9F}"/>
              </a:ext>
            </a:extLst>
          </p:cNvPr>
          <p:cNvSpPr txBox="1"/>
          <p:nvPr/>
        </p:nvSpPr>
        <p:spPr>
          <a:xfrm>
            <a:off x="427512" y="1281578"/>
            <a:ext cx="23156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Recap past events and accomplishments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State quick facts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051E79-3630-F672-CD39-72778F43C051}"/>
              </a:ext>
            </a:extLst>
          </p:cNvPr>
          <p:cNvSpPr txBox="1"/>
          <p:nvPr/>
        </p:nvSpPr>
        <p:spPr>
          <a:xfrm>
            <a:off x="9511144" y="1522275"/>
            <a:ext cx="22345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Or highlight an upcoming milestone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61B2B-4E33-9051-EBF5-CB7A7D3A0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63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B9C22-E53C-710D-F5BC-FC9BBFDBA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0FE1B-6EB9-80F0-E07C-8C160079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Highlight Slide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6EC67-9EA8-0968-53EF-CF9428614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D8FF3DE-68C2-8CD6-8322-D2D8BEB085D5}"/>
              </a:ext>
            </a:extLst>
          </p:cNvPr>
          <p:cNvSpPr/>
          <p:nvPr/>
        </p:nvSpPr>
        <p:spPr>
          <a:xfrm>
            <a:off x="520536" y="1075345"/>
            <a:ext cx="3518065" cy="2294281"/>
          </a:xfrm>
          <a:prstGeom prst="roundRect">
            <a:avLst>
              <a:gd name="adj" fmla="val 1052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5935BAC-B812-3C85-3179-AD6DE29A829B}"/>
              </a:ext>
            </a:extLst>
          </p:cNvPr>
          <p:cNvSpPr/>
          <p:nvPr/>
        </p:nvSpPr>
        <p:spPr>
          <a:xfrm>
            <a:off x="4336968" y="1075344"/>
            <a:ext cx="3518065" cy="2294281"/>
          </a:xfrm>
          <a:prstGeom prst="roundRect">
            <a:avLst>
              <a:gd name="adj" fmla="val 1052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2191038-7404-2389-EC35-3B969114C5B7}"/>
              </a:ext>
            </a:extLst>
          </p:cNvPr>
          <p:cNvSpPr/>
          <p:nvPr/>
        </p:nvSpPr>
        <p:spPr>
          <a:xfrm>
            <a:off x="8153400" y="1075343"/>
            <a:ext cx="3518065" cy="2294281"/>
          </a:xfrm>
          <a:prstGeom prst="roundRect">
            <a:avLst>
              <a:gd name="adj" fmla="val 1052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226BC06-43CC-7AF8-3846-296E37D04664}"/>
              </a:ext>
            </a:extLst>
          </p:cNvPr>
          <p:cNvSpPr/>
          <p:nvPr/>
        </p:nvSpPr>
        <p:spPr>
          <a:xfrm>
            <a:off x="520536" y="3651042"/>
            <a:ext cx="3518065" cy="2294281"/>
          </a:xfrm>
          <a:prstGeom prst="roundRect">
            <a:avLst>
              <a:gd name="adj" fmla="val 1052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79D948F-602B-33A6-546D-85C0665B3828}"/>
              </a:ext>
            </a:extLst>
          </p:cNvPr>
          <p:cNvSpPr/>
          <p:nvPr/>
        </p:nvSpPr>
        <p:spPr>
          <a:xfrm>
            <a:off x="4336968" y="3651041"/>
            <a:ext cx="3518065" cy="2294281"/>
          </a:xfrm>
          <a:prstGeom prst="roundRect">
            <a:avLst>
              <a:gd name="adj" fmla="val 1052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AC0EA47-6F3B-8374-4180-2D0E01ABBDE8}"/>
              </a:ext>
            </a:extLst>
          </p:cNvPr>
          <p:cNvSpPr/>
          <p:nvPr/>
        </p:nvSpPr>
        <p:spPr>
          <a:xfrm>
            <a:off x="8153400" y="3651040"/>
            <a:ext cx="3518065" cy="2294281"/>
          </a:xfrm>
          <a:prstGeom prst="roundRect">
            <a:avLst>
              <a:gd name="adj" fmla="val 10522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39C449-D030-1997-50C0-DE7EF8B1C0A4}"/>
              </a:ext>
            </a:extLst>
          </p:cNvPr>
          <p:cNvSpPr txBox="1"/>
          <p:nvPr/>
        </p:nvSpPr>
        <p:spPr>
          <a:xfrm>
            <a:off x="771401" y="1270064"/>
            <a:ext cx="3016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Milestone #1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More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Even more things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5E555D-EFD5-4E86-8E26-84C28F68E4C9}"/>
              </a:ext>
            </a:extLst>
          </p:cNvPr>
          <p:cNvSpPr txBox="1"/>
          <p:nvPr/>
        </p:nvSpPr>
        <p:spPr>
          <a:xfrm>
            <a:off x="4587834" y="1270063"/>
            <a:ext cx="3016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Milestone #1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More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Even more things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12E97D-A913-135D-20E4-AF8D7851D34E}"/>
              </a:ext>
            </a:extLst>
          </p:cNvPr>
          <p:cNvSpPr txBox="1"/>
          <p:nvPr/>
        </p:nvSpPr>
        <p:spPr>
          <a:xfrm>
            <a:off x="8404267" y="1270062"/>
            <a:ext cx="3016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Milestone #1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More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Even more things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BA1325-D084-414C-7CEA-F2935CE8462A}"/>
              </a:ext>
            </a:extLst>
          </p:cNvPr>
          <p:cNvSpPr txBox="1"/>
          <p:nvPr/>
        </p:nvSpPr>
        <p:spPr>
          <a:xfrm>
            <a:off x="771400" y="3821316"/>
            <a:ext cx="3016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Milestone #1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More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Even more things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6F5170-0416-55B1-C62B-48DF6265AEFB}"/>
              </a:ext>
            </a:extLst>
          </p:cNvPr>
          <p:cNvSpPr txBox="1"/>
          <p:nvPr/>
        </p:nvSpPr>
        <p:spPr>
          <a:xfrm>
            <a:off x="4587833" y="3821315"/>
            <a:ext cx="3016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Milestone #1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More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Even more things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8FDE04-3BDD-751A-6D8A-C21C8314249E}"/>
              </a:ext>
            </a:extLst>
          </p:cNvPr>
          <p:cNvSpPr txBox="1"/>
          <p:nvPr/>
        </p:nvSpPr>
        <p:spPr>
          <a:xfrm>
            <a:off x="8404266" y="3821314"/>
            <a:ext cx="3016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Milestone #1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More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Even more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CE9C9-51F8-21F7-7684-7A1552A37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865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5EBEE-3E6C-28E2-D279-75D05ECB3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BCF9-4096-2D30-44E1-49FB9138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Highlight Slide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209975-57D7-331C-4922-17D55D7BA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C896BE-3AF1-0D3C-F5FC-B8FE131AA5F4}"/>
              </a:ext>
            </a:extLst>
          </p:cNvPr>
          <p:cNvSpPr txBox="1"/>
          <p:nvPr/>
        </p:nvSpPr>
        <p:spPr>
          <a:xfrm>
            <a:off x="771401" y="1270064"/>
            <a:ext cx="3016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Milestone #1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More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Even more things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8B57EC-8427-78BB-ABB2-2378CDA2669F}"/>
              </a:ext>
            </a:extLst>
          </p:cNvPr>
          <p:cNvSpPr txBox="1"/>
          <p:nvPr/>
        </p:nvSpPr>
        <p:spPr>
          <a:xfrm>
            <a:off x="4587834" y="1270063"/>
            <a:ext cx="3016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Milestone #1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More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Even more things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A11C87-6E02-A68A-6394-44E960F4AD8E}"/>
              </a:ext>
            </a:extLst>
          </p:cNvPr>
          <p:cNvSpPr txBox="1"/>
          <p:nvPr/>
        </p:nvSpPr>
        <p:spPr>
          <a:xfrm>
            <a:off x="8404267" y="1270062"/>
            <a:ext cx="3016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Milestone #1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More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Even more things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36FA48-6E18-ADF8-7848-3C40F92DFBD1}"/>
              </a:ext>
            </a:extLst>
          </p:cNvPr>
          <p:cNvSpPr txBox="1"/>
          <p:nvPr/>
        </p:nvSpPr>
        <p:spPr>
          <a:xfrm>
            <a:off x="771400" y="3821316"/>
            <a:ext cx="3016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Milestone #1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More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Even more things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6804B2-65B8-699E-F146-4E07AFA3A74B}"/>
              </a:ext>
            </a:extLst>
          </p:cNvPr>
          <p:cNvSpPr txBox="1"/>
          <p:nvPr/>
        </p:nvSpPr>
        <p:spPr>
          <a:xfrm>
            <a:off x="4587833" y="3821315"/>
            <a:ext cx="3016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Milestone #1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More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Even more things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C50FFA-AA2B-3A26-912B-6F9AC3ADE8C8}"/>
              </a:ext>
            </a:extLst>
          </p:cNvPr>
          <p:cNvSpPr txBox="1"/>
          <p:nvPr/>
        </p:nvSpPr>
        <p:spPr>
          <a:xfrm>
            <a:off x="8404266" y="3821314"/>
            <a:ext cx="3016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Milestone #1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More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Even more things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02698E-6ECD-5C41-5B39-5F9C485968EA}"/>
              </a:ext>
            </a:extLst>
          </p:cNvPr>
          <p:cNvCxnSpPr/>
          <p:nvPr/>
        </p:nvCxnSpPr>
        <p:spPr>
          <a:xfrm>
            <a:off x="544286" y="3476500"/>
            <a:ext cx="111034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71094D19-367F-46C9-859C-699AAC24C2E5}"/>
              </a:ext>
            </a:extLst>
          </p:cNvPr>
          <p:cNvGrpSpPr/>
          <p:nvPr/>
        </p:nvGrpSpPr>
        <p:grpSpPr>
          <a:xfrm>
            <a:off x="4186547" y="1368630"/>
            <a:ext cx="3818906" cy="4215740"/>
            <a:chOff x="4014850" y="1321130"/>
            <a:chExt cx="3818906" cy="421574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89F65EC-D606-691C-21D1-511FAF937B6C}"/>
                </a:ext>
              </a:extLst>
            </p:cNvPr>
            <p:cNvCxnSpPr/>
            <p:nvPr/>
          </p:nvCxnSpPr>
          <p:spPr>
            <a:xfrm>
              <a:off x="4014850" y="1321130"/>
              <a:ext cx="0" cy="42157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047C111-9A20-D2AF-48EF-F88C95035411}"/>
                </a:ext>
              </a:extLst>
            </p:cNvPr>
            <p:cNvCxnSpPr/>
            <p:nvPr/>
          </p:nvCxnSpPr>
          <p:spPr>
            <a:xfrm>
              <a:off x="7833756" y="1321130"/>
              <a:ext cx="0" cy="421574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223379-4A1D-AD30-AE34-0BC2466B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23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DBB38-098B-F029-3E32-63647377A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6082-47EE-2DF9-8F6E-2C5C68F8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Big Ideas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965517-D540-D14A-4F38-B78822168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4F7AEB-B2AD-C4E7-47E8-BA1CA72AA647}"/>
              </a:ext>
            </a:extLst>
          </p:cNvPr>
          <p:cNvGrpSpPr/>
          <p:nvPr/>
        </p:nvGrpSpPr>
        <p:grpSpPr>
          <a:xfrm>
            <a:off x="513114" y="1207457"/>
            <a:ext cx="5381500" cy="4576727"/>
            <a:chOff x="513114" y="1134720"/>
            <a:chExt cx="5381500" cy="457672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D51F645-CBC9-6C0E-7B36-906BED7C45F0}"/>
                </a:ext>
              </a:extLst>
            </p:cNvPr>
            <p:cNvGrpSpPr/>
            <p:nvPr/>
          </p:nvGrpSpPr>
          <p:grpSpPr>
            <a:xfrm>
              <a:off x="513114" y="1134720"/>
              <a:ext cx="5381500" cy="4576727"/>
              <a:chOff x="513114" y="1134720"/>
              <a:chExt cx="5381500" cy="4576727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077B704-34F4-8F7C-8D3C-C813DAC7A276}"/>
                  </a:ext>
                </a:extLst>
              </p:cNvPr>
              <p:cNvSpPr/>
              <p:nvPr/>
            </p:nvSpPr>
            <p:spPr>
              <a:xfrm>
                <a:off x="513114" y="2358736"/>
                <a:ext cx="5381500" cy="33527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8505F85-EE3B-C302-D2D5-CBE15628FD1E}"/>
                  </a:ext>
                </a:extLst>
              </p:cNvPr>
              <p:cNvSpPr/>
              <p:nvPr/>
            </p:nvSpPr>
            <p:spPr>
              <a:xfrm>
                <a:off x="513114" y="1134720"/>
                <a:ext cx="5381500" cy="1397110"/>
              </a:xfrm>
              <a:prstGeom prst="roundRect">
                <a:avLst>
                  <a:gd name="adj" fmla="val 5810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138ACD9-257A-0C3D-F5E3-240DD70F34AF}"/>
                </a:ext>
              </a:extLst>
            </p:cNvPr>
            <p:cNvSpPr txBox="1"/>
            <p:nvPr/>
          </p:nvSpPr>
          <p:spPr>
            <a:xfrm>
              <a:off x="903514" y="2786223"/>
              <a:ext cx="460069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List things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More things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Even more things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6C53024-14FA-A554-FAA9-13D24EC33EC3}"/>
              </a:ext>
            </a:extLst>
          </p:cNvPr>
          <p:cNvGrpSpPr/>
          <p:nvPr/>
        </p:nvGrpSpPr>
        <p:grpSpPr>
          <a:xfrm>
            <a:off x="6297387" y="1207455"/>
            <a:ext cx="5381500" cy="4588563"/>
            <a:chOff x="6297387" y="1134718"/>
            <a:chExt cx="5381500" cy="458856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40136C2-6659-774F-D9CB-AE4C541364C6}"/>
                </a:ext>
              </a:extLst>
            </p:cNvPr>
            <p:cNvGrpSpPr/>
            <p:nvPr/>
          </p:nvGrpSpPr>
          <p:grpSpPr>
            <a:xfrm>
              <a:off x="6297387" y="1134718"/>
              <a:ext cx="5381500" cy="4588563"/>
              <a:chOff x="6297387" y="1134718"/>
              <a:chExt cx="5381500" cy="4588563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EF948DA-FA6C-A2A5-304B-0AA57E69B9C2}"/>
                  </a:ext>
                </a:extLst>
              </p:cNvPr>
              <p:cNvSpPr/>
              <p:nvPr/>
            </p:nvSpPr>
            <p:spPr>
              <a:xfrm>
                <a:off x="6297387" y="2370570"/>
                <a:ext cx="5381500" cy="33527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D369EEDE-CB30-5F33-65A5-592BE2922E46}"/>
                  </a:ext>
                </a:extLst>
              </p:cNvPr>
              <p:cNvSpPr/>
              <p:nvPr/>
            </p:nvSpPr>
            <p:spPr>
              <a:xfrm>
                <a:off x="6297387" y="1134718"/>
                <a:ext cx="5381500" cy="1408945"/>
              </a:xfrm>
              <a:prstGeom prst="roundRect">
                <a:avLst>
                  <a:gd name="adj" fmla="val 5810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3AAA9A6-19E7-2283-D69A-F855887D9952}"/>
                </a:ext>
              </a:extLst>
            </p:cNvPr>
            <p:cNvSpPr txBox="1"/>
            <p:nvPr/>
          </p:nvSpPr>
          <p:spPr>
            <a:xfrm>
              <a:off x="6687787" y="2786223"/>
              <a:ext cx="460069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List things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More things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Even more things</a:t>
              </a:r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2ACB2F78-62E4-D8BD-6B97-E9F88CFB4558}"/>
              </a:ext>
            </a:extLst>
          </p:cNvPr>
          <p:cNvSpPr txBox="1">
            <a:spLocks/>
          </p:cNvSpPr>
          <p:nvPr/>
        </p:nvSpPr>
        <p:spPr>
          <a:xfrm>
            <a:off x="1891136" y="1587195"/>
            <a:ext cx="2625454" cy="625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/>
              <a:t>Idea #1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DA5E409E-DB0C-8DEC-D8A7-25D4C06ED950}"/>
              </a:ext>
            </a:extLst>
          </p:cNvPr>
          <p:cNvSpPr txBox="1">
            <a:spLocks/>
          </p:cNvSpPr>
          <p:nvPr/>
        </p:nvSpPr>
        <p:spPr>
          <a:xfrm>
            <a:off x="7675409" y="1599000"/>
            <a:ext cx="2625454" cy="625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/>
              <a:t>Idea #2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635BB-60DC-579C-1291-3F964E3BB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3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7F330-D9F1-72C4-AE1C-82F52CDA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85786-FB2E-4076-A224-790B1306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Big Ideas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FB08D-9B3D-14D5-5F63-FD0A959C9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7151FED-4FEC-D14F-808E-1B3E0BAB4AAD}"/>
              </a:ext>
            </a:extLst>
          </p:cNvPr>
          <p:cNvGrpSpPr/>
          <p:nvPr/>
        </p:nvGrpSpPr>
        <p:grpSpPr>
          <a:xfrm>
            <a:off x="585850" y="1003497"/>
            <a:ext cx="3525486" cy="4233521"/>
            <a:chOff x="513114" y="1134720"/>
            <a:chExt cx="5381500" cy="457672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C671215-33D4-2A77-6D35-58018F30182D}"/>
                </a:ext>
              </a:extLst>
            </p:cNvPr>
            <p:cNvGrpSpPr/>
            <p:nvPr/>
          </p:nvGrpSpPr>
          <p:grpSpPr>
            <a:xfrm>
              <a:off x="513114" y="1134720"/>
              <a:ext cx="5381500" cy="4576727"/>
              <a:chOff x="513114" y="1134720"/>
              <a:chExt cx="5381500" cy="4576727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71354AD-33A0-9A2F-46EC-D23BB2C4E372}"/>
                  </a:ext>
                </a:extLst>
              </p:cNvPr>
              <p:cNvSpPr/>
              <p:nvPr/>
            </p:nvSpPr>
            <p:spPr>
              <a:xfrm>
                <a:off x="513114" y="2358736"/>
                <a:ext cx="5381500" cy="33527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0EAC7AD6-F317-E9BC-66CA-8B3718417A42}"/>
                  </a:ext>
                </a:extLst>
              </p:cNvPr>
              <p:cNvSpPr/>
              <p:nvPr/>
            </p:nvSpPr>
            <p:spPr>
              <a:xfrm>
                <a:off x="513114" y="1134720"/>
                <a:ext cx="5381500" cy="1397110"/>
              </a:xfrm>
              <a:prstGeom prst="roundRect">
                <a:avLst>
                  <a:gd name="adj" fmla="val 5810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C9DD29B-2C1F-C203-2CB7-072C63662042}"/>
                </a:ext>
              </a:extLst>
            </p:cNvPr>
            <p:cNvSpPr txBox="1"/>
            <p:nvPr/>
          </p:nvSpPr>
          <p:spPr>
            <a:xfrm>
              <a:off x="903514" y="2786223"/>
              <a:ext cx="460069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List things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More things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Even more things</a:t>
              </a:r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3DF56039-8BF2-E710-A02B-15111F387C54}"/>
              </a:ext>
            </a:extLst>
          </p:cNvPr>
          <p:cNvSpPr txBox="1">
            <a:spLocks/>
          </p:cNvSpPr>
          <p:nvPr/>
        </p:nvSpPr>
        <p:spPr>
          <a:xfrm>
            <a:off x="1035866" y="1389125"/>
            <a:ext cx="2625454" cy="625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/>
              <a:t>Idea #1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240414-ADF7-6221-811A-A8291E4E4526}"/>
              </a:ext>
            </a:extLst>
          </p:cNvPr>
          <p:cNvGrpSpPr/>
          <p:nvPr/>
        </p:nvGrpSpPr>
        <p:grpSpPr>
          <a:xfrm>
            <a:off x="4367092" y="1003497"/>
            <a:ext cx="3525486" cy="4233521"/>
            <a:chOff x="513114" y="1134720"/>
            <a:chExt cx="5381500" cy="457672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FF2DE5A-FC79-1695-5E8D-2B93DA376658}"/>
                </a:ext>
              </a:extLst>
            </p:cNvPr>
            <p:cNvGrpSpPr/>
            <p:nvPr/>
          </p:nvGrpSpPr>
          <p:grpSpPr>
            <a:xfrm>
              <a:off x="513114" y="1134720"/>
              <a:ext cx="5381500" cy="4576727"/>
              <a:chOff x="513114" y="1134720"/>
              <a:chExt cx="5381500" cy="4576727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4C62B6-9930-1FFF-A202-E45936D85636}"/>
                  </a:ext>
                </a:extLst>
              </p:cNvPr>
              <p:cNvSpPr/>
              <p:nvPr/>
            </p:nvSpPr>
            <p:spPr>
              <a:xfrm>
                <a:off x="513114" y="2358736"/>
                <a:ext cx="5381500" cy="33527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BD69B95F-03C7-7D67-CB68-DB0EE3491D6E}"/>
                  </a:ext>
                </a:extLst>
              </p:cNvPr>
              <p:cNvSpPr/>
              <p:nvPr/>
            </p:nvSpPr>
            <p:spPr>
              <a:xfrm>
                <a:off x="513114" y="1134720"/>
                <a:ext cx="5381500" cy="1397110"/>
              </a:xfrm>
              <a:prstGeom prst="roundRect">
                <a:avLst>
                  <a:gd name="adj" fmla="val 5810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2A48E80-0C8B-EAA1-1F1C-A54BD4E1057C}"/>
                </a:ext>
              </a:extLst>
            </p:cNvPr>
            <p:cNvSpPr txBox="1"/>
            <p:nvPr/>
          </p:nvSpPr>
          <p:spPr>
            <a:xfrm>
              <a:off x="903514" y="2786223"/>
              <a:ext cx="460069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List things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More things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Even more things</a:t>
              </a: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0FC28A9A-7086-5256-7EA8-F074DA619E04}"/>
              </a:ext>
            </a:extLst>
          </p:cNvPr>
          <p:cNvSpPr txBox="1">
            <a:spLocks/>
          </p:cNvSpPr>
          <p:nvPr/>
        </p:nvSpPr>
        <p:spPr>
          <a:xfrm>
            <a:off x="4817108" y="1389125"/>
            <a:ext cx="2625454" cy="625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/>
              <a:t>Idea #2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753579E-7FAA-C9CF-C05E-EC4731C15B94}"/>
              </a:ext>
            </a:extLst>
          </p:cNvPr>
          <p:cNvGrpSpPr/>
          <p:nvPr/>
        </p:nvGrpSpPr>
        <p:grpSpPr>
          <a:xfrm>
            <a:off x="8148334" y="1003497"/>
            <a:ext cx="3525486" cy="4233521"/>
            <a:chOff x="513114" y="1134720"/>
            <a:chExt cx="5381500" cy="457672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8335DEC-1C8F-C396-9EB9-28342FE9FC75}"/>
                </a:ext>
              </a:extLst>
            </p:cNvPr>
            <p:cNvGrpSpPr/>
            <p:nvPr/>
          </p:nvGrpSpPr>
          <p:grpSpPr>
            <a:xfrm>
              <a:off x="513114" y="1134720"/>
              <a:ext cx="5381500" cy="4576727"/>
              <a:chOff x="513114" y="1134720"/>
              <a:chExt cx="5381500" cy="457672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4636F55-3415-E1C7-6CED-7BB456A37ACD}"/>
                  </a:ext>
                </a:extLst>
              </p:cNvPr>
              <p:cNvSpPr/>
              <p:nvPr/>
            </p:nvSpPr>
            <p:spPr>
              <a:xfrm>
                <a:off x="513114" y="2358736"/>
                <a:ext cx="5381500" cy="335271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F310116B-520D-FB9E-0656-B4B5E021F883}"/>
                  </a:ext>
                </a:extLst>
              </p:cNvPr>
              <p:cNvSpPr/>
              <p:nvPr/>
            </p:nvSpPr>
            <p:spPr>
              <a:xfrm>
                <a:off x="513114" y="1134720"/>
                <a:ext cx="5381500" cy="1397110"/>
              </a:xfrm>
              <a:prstGeom prst="roundRect">
                <a:avLst>
                  <a:gd name="adj" fmla="val 5810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14A600E-DA32-AD6F-C992-8D46B21279F9}"/>
                </a:ext>
              </a:extLst>
            </p:cNvPr>
            <p:cNvSpPr txBox="1"/>
            <p:nvPr/>
          </p:nvSpPr>
          <p:spPr>
            <a:xfrm>
              <a:off x="903514" y="2786223"/>
              <a:ext cx="460069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List things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More things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/>
                <a:t>Even more things</a:t>
              </a:r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C7CDEAE9-4C89-85C8-32BB-EAA991D2523A}"/>
              </a:ext>
            </a:extLst>
          </p:cNvPr>
          <p:cNvSpPr txBox="1">
            <a:spLocks/>
          </p:cNvSpPr>
          <p:nvPr/>
        </p:nvSpPr>
        <p:spPr>
          <a:xfrm>
            <a:off x="8598350" y="1389125"/>
            <a:ext cx="2625454" cy="625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/>
              <a:t>Idea #3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1B3ADF4C-35D8-7884-EC45-53EF6D7EED4F}"/>
              </a:ext>
            </a:extLst>
          </p:cNvPr>
          <p:cNvSpPr txBox="1">
            <a:spLocks/>
          </p:cNvSpPr>
          <p:nvPr/>
        </p:nvSpPr>
        <p:spPr>
          <a:xfrm>
            <a:off x="838200" y="5388938"/>
            <a:ext cx="10515600" cy="625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chemeClr val="tx2">
                    <a:lumMod val="75000"/>
                    <a:lumOff val="25000"/>
                  </a:schemeClr>
                </a:solidFill>
              </a:rPr>
              <a:t>Add the major takeaway at the bottom if applicable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045BAA2-281F-02A5-ACCA-37F0C0D4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41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3D9FD-D778-01DB-D05D-B1AAE8865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C1FDAF2-C79D-9FCD-D049-70DF1C7D9374}"/>
              </a:ext>
            </a:extLst>
          </p:cNvPr>
          <p:cNvSpPr/>
          <p:nvPr/>
        </p:nvSpPr>
        <p:spPr>
          <a:xfrm>
            <a:off x="6285014" y="1207455"/>
            <a:ext cx="5381500" cy="4588561"/>
          </a:xfrm>
          <a:prstGeom prst="roundRect">
            <a:avLst>
              <a:gd name="adj" fmla="val 5810"/>
            </a:avLst>
          </a:prstGeom>
          <a:solidFill>
            <a:schemeClr val="bg1">
              <a:lumMod val="95000"/>
              <a:alpha val="50000"/>
            </a:schemeClr>
          </a:solidFill>
          <a:ln w="19050">
            <a:solidFill>
              <a:schemeClr val="accent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5FEA9-0D53-E312-0503-3BA7735F1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Big Ideas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365803-A88B-F14F-35FA-09B8AE080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0334DBF-4C48-0893-28F5-E1E5607202C1}"/>
              </a:ext>
            </a:extLst>
          </p:cNvPr>
          <p:cNvSpPr/>
          <p:nvPr/>
        </p:nvSpPr>
        <p:spPr>
          <a:xfrm>
            <a:off x="513114" y="1207456"/>
            <a:ext cx="5381500" cy="4588561"/>
          </a:xfrm>
          <a:prstGeom prst="roundRect">
            <a:avLst>
              <a:gd name="adj" fmla="val 5810"/>
            </a:avLst>
          </a:prstGeom>
          <a:solidFill>
            <a:schemeClr val="bg1">
              <a:lumMod val="95000"/>
              <a:alpha val="50000"/>
            </a:schemeClr>
          </a:solidFill>
          <a:ln w="19050">
            <a:solidFill>
              <a:schemeClr val="accent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E5D318-8620-4017-EE21-CECF811076E2}"/>
              </a:ext>
            </a:extLst>
          </p:cNvPr>
          <p:cNvSpPr txBox="1"/>
          <p:nvPr/>
        </p:nvSpPr>
        <p:spPr>
          <a:xfrm>
            <a:off x="903514" y="2169126"/>
            <a:ext cx="4600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More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Even more things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7E45514-B546-AD8E-5527-8806CC5544F1}"/>
              </a:ext>
            </a:extLst>
          </p:cNvPr>
          <p:cNvSpPr txBox="1">
            <a:spLocks/>
          </p:cNvSpPr>
          <p:nvPr/>
        </p:nvSpPr>
        <p:spPr>
          <a:xfrm>
            <a:off x="1891137" y="1312225"/>
            <a:ext cx="2625454" cy="625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chemeClr val="tx1"/>
                </a:solidFill>
              </a:rPr>
              <a:t>Idea #1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A7C35E-6227-03C0-BC9A-44B25FFBCE58}"/>
              </a:ext>
            </a:extLst>
          </p:cNvPr>
          <p:cNvSpPr txBox="1">
            <a:spLocks/>
          </p:cNvSpPr>
          <p:nvPr/>
        </p:nvSpPr>
        <p:spPr>
          <a:xfrm>
            <a:off x="7675409" y="1311954"/>
            <a:ext cx="2625454" cy="6258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>
                <a:solidFill>
                  <a:schemeClr val="tx1"/>
                </a:solidFill>
              </a:rPr>
              <a:t>Idea #2</a:t>
            </a:r>
          </a:p>
        </p:txBody>
      </p:sp>
      <p:pic>
        <p:nvPicPr>
          <p:cNvPr id="9" name="Picture 8" descr="A close-up of a paper&#10;&#10;AI-generated content may be incorrect.">
            <a:extLst>
              <a:ext uri="{FF2B5EF4-FFF2-40B4-BE49-F238E27FC236}">
                <a16:creationId xmlns:a16="http://schemas.microsoft.com/office/drawing/2014/main" id="{AA7D4C32-427B-1F33-C7D9-A4F3FE134D5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7352" y="2154012"/>
            <a:ext cx="4708130" cy="313875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74F39-C86C-C7A8-CBD8-FF5CFDEC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36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14312-BD15-A991-CCC6-F7A34425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D8A345-9F84-9CF0-7403-F39191D56251}"/>
              </a:ext>
            </a:extLst>
          </p:cNvPr>
          <p:cNvGrpSpPr/>
          <p:nvPr/>
        </p:nvGrpSpPr>
        <p:grpSpPr>
          <a:xfrm>
            <a:off x="1780228" y="1323850"/>
            <a:ext cx="8631544" cy="1830000"/>
            <a:chOff x="1838091" y="1323850"/>
            <a:chExt cx="8631544" cy="1830000"/>
          </a:xfrm>
        </p:grpSpPr>
        <p:sp>
          <p:nvSpPr>
            <p:cNvPr id="5" name="Pentagon 4">
              <a:extLst>
                <a:ext uri="{FF2B5EF4-FFF2-40B4-BE49-F238E27FC236}">
                  <a16:creationId xmlns:a16="http://schemas.microsoft.com/office/drawing/2014/main" id="{CF22E250-B7E0-74C5-2571-BC235473EE25}"/>
                </a:ext>
              </a:extLst>
            </p:cNvPr>
            <p:cNvSpPr/>
            <p:nvPr/>
          </p:nvSpPr>
          <p:spPr>
            <a:xfrm>
              <a:off x="4359304" y="1323850"/>
              <a:ext cx="2722418" cy="1830000"/>
            </a:xfrm>
            <a:prstGeom prst="homePlate">
              <a:avLst>
                <a:gd name="adj" fmla="val 59542"/>
              </a:avLst>
            </a:prstGeom>
            <a:gradFill flip="none" rotWithShape="1">
              <a:gsLst>
                <a:gs pos="25000">
                  <a:srgbClr val="A4C5EA"/>
                </a:gs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39E3761B-E63C-C26B-0786-D85334358C88}"/>
                </a:ext>
              </a:extLst>
            </p:cNvPr>
            <p:cNvSpPr/>
            <p:nvPr/>
          </p:nvSpPr>
          <p:spPr>
            <a:xfrm>
              <a:off x="1838091" y="1323850"/>
              <a:ext cx="3387913" cy="1830000"/>
            </a:xfrm>
            <a:prstGeom prst="roundRect">
              <a:avLst>
                <a:gd name="adj" fmla="val 5810"/>
              </a:avLst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DE0404B-66E7-2053-33DA-6C2CAB8E5640}"/>
                </a:ext>
              </a:extLst>
            </p:cNvPr>
            <p:cNvSpPr/>
            <p:nvPr/>
          </p:nvSpPr>
          <p:spPr>
            <a:xfrm>
              <a:off x="7081722" y="1323850"/>
              <a:ext cx="3387913" cy="1830000"/>
            </a:xfrm>
            <a:prstGeom prst="roundRect">
              <a:avLst>
                <a:gd name="adj" fmla="val 5810"/>
              </a:avLst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CAF5C08-6AAA-38B0-829B-9B4998C73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45426D-BFE3-08B8-1E0E-AA665CFB2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55C123-6BA6-0E67-0BA6-53164B715F96}"/>
              </a:ext>
            </a:extLst>
          </p:cNvPr>
          <p:cNvSpPr txBox="1"/>
          <p:nvPr/>
        </p:nvSpPr>
        <p:spPr>
          <a:xfrm>
            <a:off x="2014808" y="1552154"/>
            <a:ext cx="2625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Show images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62F1019-BF74-BC23-C60B-39C3019BFDBA}"/>
              </a:ext>
            </a:extLst>
          </p:cNvPr>
          <p:cNvGrpSpPr/>
          <p:nvPr/>
        </p:nvGrpSpPr>
        <p:grpSpPr>
          <a:xfrm>
            <a:off x="2312441" y="3611350"/>
            <a:ext cx="7567118" cy="1830000"/>
            <a:chOff x="2389910" y="3611350"/>
            <a:chExt cx="7567118" cy="1830000"/>
          </a:xfrm>
        </p:grpSpPr>
        <p:sp>
          <p:nvSpPr>
            <p:cNvPr id="7" name="Pentagon 6">
              <a:extLst>
                <a:ext uri="{FF2B5EF4-FFF2-40B4-BE49-F238E27FC236}">
                  <a16:creationId xmlns:a16="http://schemas.microsoft.com/office/drawing/2014/main" id="{E3F3A11D-82CD-72B0-AD7C-21F76643FDB3}"/>
                </a:ext>
              </a:extLst>
            </p:cNvPr>
            <p:cNvSpPr/>
            <p:nvPr/>
          </p:nvSpPr>
          <p:spPr>
            <a:xfrm>
              <a:off x="3846697" y="3611350"/>
              <a:ext cx="2722418" cy="1830000"/>
            </a:xfrm>
            <a:prstGeom prst="homePlate">
              <a:avLst>
                <a:gd name="adj" fmla="val 59542"/>
              </a:avLst>
            </a:prstGeom>
            <a:gradFill flip="none" rotWithShape="1">
              <a:gsLst>
                <a:gs pos="71000">
                  <a:schemeClr val="tx2">
                    <a:lumMod val="75000"/>
                    <a:lumOff val="25000"/>
                  </a:schemeClr>
                </a:gs>
                <a:gs pos="0">
                  <a:schemeClr val="tx2">
                    <a:lumMod val="75000"/>
                    <a:lumOff val="25000"/>
                  </a:schemeClr>
                </a:gs>
                <a:gs pos="100000">
                  <a:schemeClr val="tx2">
                    <a:lumMod val="50000"/>
                    <a:lumOff val="5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B2FDCC6F-74A3-FD8A-9DFC-5F20DD7AFC90}"/>
                </a:ext>
              </a:extLst>
            </p:cNvPr>
            <p:cNvSpPr/>
            <p:nvPr/>
          </p:nvSpPr>
          <p:spPr>
            <a:xfrm>
              <a:off x="2389910" y="3611350"/>
              <a:ext cx="1688850" cy="1830000"/>
            </a:xfrm>
            <a:prstGeom prst="roundRect">
              <a:avLst>
                <a:gd name="adj" fmla="val 5810"/>
              </a:avLst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667A118-BEC2-335B-9A2B-ECBB82B814DB}"/>
                </a:ext>
              </a:extLst>
            </p:cNvPr>
            <p:cNvSpPr/>
            <p:nvPr/>
          </p:nvSpPr>
          <p:spPr>
            <a:xfrm>
              <a:off x="6569115" y="3611350"/>
              <a:ext cx="3387913" cy="1830000"/>
            </a:xfrm>
            <a:prstGeom prst="roundRect">
              <a:avLst>
                <a:gd name="adj" fmla="val 5810"/>
              </a:avLst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179A931-D450-C9F2-5AE0-0BF2BB90DDC3}"/>
              </a:ext>
            </a:extLst>
          </p:cNvPr>
          <p:cNvSpPr txBox="1"/>
          <p:nvPr/>
        </p:nvSpPr>
        <p:spPr>
          <a:xfrm>
            <a:off x="2570949" y="3882856"/>
            <a:ext cx="2625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Show images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CCBEE6-CABF-7A6F-2CEB-32CDEAF87137}"/>
              </a:ext>
            </a:extLst>
          </p:cNvPr>
          <p:cNvSpPr txBox="1"/>
          <p:nvPr/>
        </p:nvSpPr>
        <p:spPr>
          <a:xfrm>
            <a:off x="6726371" y="3874137"/>
            <a:ext cx="2625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Show images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5D34E9-E009-886B-6E2F-8FC0E02A1474}"/>
              </a:ext>
            </a:extLst>
          </p:cNvPr>
          <p:cNvSpPr txBox="1"/>
          <p:nvPr/>
        </p:nvSpPr>
        <p:spPr>
          <a:xfrm>
            <a:off x="7276155" y="1552154"/>
            <a:ext cx="2625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List things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Show images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D9CF98D-49FF-A700-95AF-6ED4E96E8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51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9D2E-FE89-3A98-C884-2E2767CF0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1D8DF74-A3F0-EB56-3474-725E47AFD200}"/>
              </a:ext>
            </a:extLst>
          </p:cNvPr>
          <p:cNvSpPr/>
          <p:nvPr/>
        </p:nvSpPr>
        <p:spPr>
          <a:xfrm>
            <a:off x="1856031" y="3824025"/>
            <a:ext cx="4114800" cy="433669"/>
          </a:xfrm>
          <a:prstGeom prst="rect">
            <a:avLst/>
          </a:prstGeom>
          <a:gradFill flip="none" rotWithShape="1">
            <a:gsLst>
              <a:gs pos="75000">
                <a:schemeClr val="bg1">
                  <a:lumMod val="85000"/>
                  <a:alpha val="69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19D1A7-503D-9FBE-1B99-9822C799DB15}"/>
              </a:ext>
            </a:extLst>
          </p:cNvPr>
          <p:cNvSpPr/>
          <p:nvPr/>
        </p:nvSpPr>
        <p:spPr>
          <a:xfrm>
            <a:off x="7082657" y="1444337"/>
            <a:ext cx="4114800" cy="433669"/>
          </a:xfrm>
          <a:prstGeom prst="rect">
            <a:avLst/>
          </a:prstGeom>
          <a:gradFill flip="none" rotWithShape="1">
            <a:gsLst>
              <a:gs pos="75000">
                <a:schemeClr val="bg1">
                  <a:lumMod val="85000"/>
                  <a:alpha val="69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E43301-F66C-A91B-1AE2-A253FA969797}"/>
              </a:ext>
            </a:extLst>
          </p:cNvPr>
          <p:cNvSpPr/>
          <p:nvPr/>
        </p:nvSpPr>
        <p:spPr>
          <a:xfrm>
            <a:off x="7082657" y="2880407"/>
            <a:ext cx="4114800" cy="433669"/>
          </a:xfrm>
          <a:prstGeom prst="rect">
            <a:avLst/>
          </a:prstGeom>
          <a:gradFill flip="none" rotWithShape="1">
            <a:gsLst>
              <a:gs pos="75000">
                <a:schemeClr val="bg1">
                  <a:lumMod val="85000"/>
                  <a:alpha val="69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C583CA-DA9F-F1C0-C141-A2833F94F231}"/>
              </a:ext>
            </a:extLst>
          </p:cNvPr>
          <p:cNvSpPr/>
          <p:nvPr/>
        </p:nvSpPr>
        <p:spPr>
          <a:xfrm>
            <a:off x="7082657" y="4306086"/>
            <a:ext cx="4114800" cy="433669"/>
          </a:xfrm>
          <a:prstGeom prst="rect">
            <a:avLst/>
          </a:prstGeom>
          <a:gradFill flip="none" rotWithShape="1">
            <a:gsLst>
              <a:gs pos="75000">
                <a:schemeClr val="bg1">
                  <a:lumMod val="85000"/>
                  <a:alpha val="69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205B8E-4718-FD7A-1A37-32284272F17C}"/>
              </a:ext>
            </a:extLst>
          </p:cNvPr>
          <p:cNvSpPr/>
          <p:nvPr/>
        </p:nvSpPr>
        <p:spPr>
          <a:xfrm>
            <a:off x="1856031" y="1430876"/>
            <a:ext cx="4114800" cy="433669"/>
          </a:xfrm>
          <a:prstGeom prst="rect">
            <a:avLst/>
          </a:prstGeom>
          <a:gradFill flip="none" rotWithShape="1">
            <a:gsLst>
              <a:gs pos="75000">
                <a:schemeClr val="bg1">
                  <a:lumMod val="85000"/>
                  <a:alpha val="69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11B56-45C8-FAD3-9653-80D56F0CA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Meet Your Team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442494-5632-3C9A-B634-23D47D38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AC8661-BC21-40A0-3C7A-7ABEBCDF7798}"/>
              </a:ext>
            </a:extLst>
          </p:cNvPr>
          <p:cNvSpPr txBox="1"/>
          <p:nvPr/>
        </p:nvSpPr>
        <p:spPr>
          <a:xfrm>
            <a:off x="2577809" y="1466606"/>
            <a:ext cx="133562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b="1"/>
              <a:t>John Smith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787591-E274-47B8-A3D8-8EF8880C712A}"/>
              </a:ext>
            </a:extLst>
          </p:cNvPr>
          <p:cNvSpPr txBox="1"/>
          <p:nvPr/>
        </p:nvSpPr>
        <p:spPr>
          <a:xfrm>
            <a:off x="2577809" y="3877971"/>
            <a:ext cx="112915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b="1"/>
              <a:t>Jane Doe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F81A2C-FA84-B483-1FDB-091DD1E022D0}"/>
              </a:ext>
            </a:extLst>
          </p:cNvPr>
          <p:cNvSpPr txBox="1"/>
          <p:nvPr/>
        </p:nvSpPr>
        <p:spPr>
          <a:xfrm>
            <a:off x="7904881" y="1495213"/>
            <a:ext cx="120558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b="1"/>
              <a:t>Person #1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67A981-B678-6947-BEEC-0B0F4B7274F8}"/>
              </a:ext>
            </a:extLst>
          </p:cNvPr>
          <p:cNvSpPr txBox="1"/>
          <p:nvPr/>
        </p:nvSpPr>
        <p:spPr>
          <a:xfrm>
            <a:off x="7904881" y="2912575"/>
            <a:ext cx="120558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b="1"/>
              <a:t>Person #2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F93AEA-5B75-158E-CC19-C11064B1ACDC}"/>
              </a:ext>
            </a:extLst>
          </p:cNvPr>
          <p:cNvSpPr txBox="1"/>
          <p:nvPr/>
        </p:nvSpPr>
        <p:spPr>
          <a:xfrm>
            <a:off x="7904881" y="4350719"/>
            <a:ext cx="120558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b="1"/>
              <a:t>Person #3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D25544-4DFD-12C2-3842-34C02C58DFE4}"/>
              </a:ext>
            </a:extLst>
          </p:cNvPr>
          <p:cNvSpPr txBox="1"/>
          <p:nvPr/>
        </p:nvSpPr>
        <p:spPr>
          <a:xfrm>
            <a:off x="7818331" y="2047238"/>
            <a:ext cx="2811091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/>
              <a:t>Title, ex) Systems Engineer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552705-5E57-D332-C394-2E8F9309410F}"/>
              </a:ext>
            </a:extLst>
          </p:cNvPr>
          <p:cNvSpPr txBox="1"/>
          <p:nvPr/>
        </p:nvSpPr>
        <p:spPr>
          <a:xfrm>
            <a:off x="7832144" y="3339478"/>
            <a:ext cx="347316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/>
              <a:t>Title, ex) Marketing and Communications Specialist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5DAD66-8241-DEE0-43F5-AE99506B7C0C}"/>
              </a:ext>
            </a:extLst>
          </p:cNvPr>
          <p:cNvSpPr txBox="1"/>
          <p:nvPr/>
        </p:nvSpPr>
        <p:spPr>
          <a:xfrm>
            <a:off x="7845957" y="4908716"/>
            <a:ext cx="60625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C4DFE5-04BB-F8DE-764A-5268342674E7}"/>
              </a:ext>
            </a:extLst>
          </p:cNvPr>
          <p:cNvSpPr txBox="1"/>
          <p:nvPr/>
        </p:nvSpPr>
        <p:spPr>
          <a:xfrm>
            <a:off x="2633268" y="1950962"/>
            <a:ext cx="1474763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/>
              <a:t>Title, ex) CTO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F506F6-5A1F-43F2-7BBC-26D02880EB5B}"/>
              </a:ext>
            </a:extLst>
          </p:cNvPr>
          <p:cNvSpPr txBox="1"/>
          <p:nvPr/>
        </p:nvSpPr>
        <p:spPr>
          <a:xfrm>
            <a:off x="2696051" y="4370423"/>
            <a:ext cx="2990178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/>
              <a:t>Title, ex) Director, Fuel Cycle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C30366-4D64-D347-861A-8E35EA799B11}"/>
              </a:ext>
            </a:extLst>
          </p:cNvPr>
          <p:cNvSpPr txBox="1"/>
          <p:nvPr/>
        </p:nvSpPr>
        <p:spPr>
          <a:xfrm>
            <a:off x="2633268" y="2358072"/>
            <a:ext cx="2842742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/>
              <a:t>Brief description or bullet points about the individual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5351A8-A665-2D66-7DA3-05E9867C0A40}"/>
              </a:ext>
            </a:extLst>
          </p:cNvPr>
          <p:cNvSpPr txBox="1"/>
          <p:nvPr/>
        </p:nvSpPr>
        <p:spPr>
          <a:xfrm>
            <a:off x="2696051" y="4772406"/>
            <a:ext cx="2842742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600"/>
              <a:t>Brief description or bullet points about the individual</a:t>
            </a:r>
          </a:p>
        </p:txBody>
      </p:sp>
      <p:pic>
        <p:nvPicPr>
          <p:cNvPr id="11" name="Picture 10" descr="A black silhouette of a person&#10;&#10;AI-generated content may be incorrect.">
            <a:extLst>
              <a:ext uri="{FF2B5EF4-FFF2-40B4-BE49-F238E27FC236}">
                <a16:creationId xmlns:a16="http://schemas.microsoft.com/office/drawing/2014/main" id="{9C7C4A29-4297-C902-5FDA-F485C965A05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534" y="1457641"/>
            <a:ext cx="1718088" cy="1701802"/>
          </a:xfrm>
          <a:prstGeom prst="roundRect">
            <a:avLst>
              <a:gd name="adj" fmla="val 14406"/>
            </a:avLst>
          </a:prstGeom>
          <a:ln w="28575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2" name="Picture 11" descr="A black silhouette of a person&#10;&#10;AI-generated content may be incorrect.">
            <a:extLst>
              <a:ext uri="{FF2B5EF4-FFF2-40B4-BE49-F238E27FC236}">
                <a16:creationId xmlns:a16="http://schemas.microsoft.com/office/drawing/2014/main" id="{BF7B33D9-CA77-A09D-5F2B-C2EF6B88EC2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871" y="3854987"/>
            <a:ext cx="1718088" cy="1701802"/>
          </a:xfrm>
          <a:prstGeom prst="roundRect">
            <a:avLst>
              <a:gd name="adj" fmla="val 14406"/>
            </a:avLst>
          </a:prstGeom>
          <a:ln w="28575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3" name="Picture 12" descr="A black silhouette of a person&#10;&#10;AI-generated content may be incorrect.">
            <a:extLst>
              <a:ext uri="{FF2B5EF4-FFF2-40B4-BE49-F238E27FC236}">
                <a16:creationId xmlns:a16="http://schemas.microsoft.com/office/drawing/2014/main" id="{23E67B6C-9005-6F68-F18C-51FE0357182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4422" y="1466133"/>
            <a:ext cx="1236469" cy="1224748"/>
          </a:xfrm>
          <a:prstGeom prst="roundRect">
            <a:avLst>
              <a:gd name="adj" fmla="val 14406"/>
            </a:avLst>
          </a:prstGeom>
          <a:ln w="28575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5" name="Picture 14" descr="A black silhouette of a person&#10;&#10;AI-generated content may be incorrect.">
            <a:extLst>
              <a:ext uri="{FF2B5EF4-FFF2-40B4-BE49-F238E27FC236}">
                <a16:creationId xmlns:a16="http://schemas.microsoft.com/office/drawing/2014/main" id="{6DD42B71-6979-FE4C-0555-79B9A9D93B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3323" y="2900528"/>
            <a:ext cx="1236469" cy="1224748"/>
          </a:xfrm>
          <a:prstGeom prst="roundRect">
            <a:avLst>
              <a:gd name="adj" fmla="val 14406"/>
            </a:avLst>
          </a:prstGeom>
          <a:ln w="28575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7" name="Picture 16" descr="A black silhouette of a person&#10;&#10;AI-generated content may be incorrect.">
            <a:extLst>
              <a:ext uri="{FF2B5EF4-FFF2-40B4-BE49-F238E27FC236}">
                <a16:creationId xmlns:a16="http://schemas.microsoft.com/office/drawing/2014/main" id="{F288D870-E155-0EB2-D744-447F8A0B5FB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3322" y="4325958"/>
            <a:ext cx="1236469" cy="1224748"/>
          </a:xfrm>
          <a:prstGeom prst="roundRect">
            <a:avLst>
              <a:gd name="adj" fmla="val 14406"/>
            </a:avLst>
          </a:prstGeom>
          <a:ln w="28575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6C6DE-91BE-D71B-17C0-BCF5344E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67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28CA4-934E-D2CF-2623-BE64BB615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C53DC51-69E4-6325-F8A6-3946D624B47E}"/>
              </a:ext>
            </a:extLst>
          </p:cNvPr>
          <p:cNvSpPr/>
          <p:nvPr/>
        </p:nvSpPr>
        <p:spPr>
          <a:xfrm>
            <a:off x="7082657" y="1444337"/>
            <a:ext cx="4114800" cy="433669"/>
          </a:xfrm>
          <a:prstGeom prst="rect">
            <a:avLst/>
          </a:prstGeom>
          <a:gradFill flip="none" rotWithShape="1">
            <a:gsLst>
              <a:gs pos="75000">
                <a:schemeClr val="bg1">
                  <a:lumMod val="85000"/>
                  <a:alpha val="69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A583DD-A254-5706-C9B6-CE4EC02B5E6B}"/>
              </a:ext>
            </a:extLst>
          </p:cNvPr>
          <p:cNvSpPr/>
          <p:nvPr/>
        </p:nvSpPr>
        <p:spPr>
          <a:xfrm>
            <a:off x="7082657" y="2880407"/>
            <a:ext cx="4114800" cy="433669"/>
          </a:xfrm>
          <a:prstGeom prst="rect">
            <a:avLst/>
          </a:prstGeom>
          <a:gradFill flip="none" rotWithShape="1">
            <a:gsLst>
              <a:gs pos="75000">
                <a:schemeClr val="bg1">
                  <a:lumMod val="85000"/>
                  <a:alpha val="69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1A63EE-6E32-742F-1C5F-AB25FB81E222}"/>
              </a:ext>
            </a:extLst>
          </p:cNvPr>
          <p:cNvSpPr/>
          <p:nvPr/>
        </p:nvSpPr>
        <p:spPr>
          <a:xfrm>
            <a:off x="7082657" y="4306086"/>
            <a:ext cx="4114800" cy="433669"/>
          </a:xfrm>
          <a:prstGeom prst="rect">
            <a:avLst/>
          </a:prstGeom>
          <a:gradFill flip="none" rotWithShape="1">
            <a:gsLst>
              <a:gs pos="75000">
                <a:schemeClr val="bg1">
                  <a:lumMod val="85000"/>
                  <a:alpha val="69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B8F2F-8C99-9532-7F54-D870CDCCD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Need more support?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64B16-11AB-5BDC-6EA9-A30CFACD9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B3532C-1711-08E4-43AB-2EEF9A3ED091}"/>
              </a:ext>
            </a:extLst>
          </p:cNvPr>
          <p:cNvSpPr txBox="1"/>
          <p:nvPr/>
        </p:nvSpPr>
        <p:spPr>
          <a:xfrm>
            <a:off x="7904881" y="1495213"/>
            <a:ext cx="127644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b="1"/>
              <a:t>Matt Miles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BEAEDF-2E83-3852-56B9-3E149BA07D07}"/>
              </a:ext>
            </a:extLst>
          </p:cNvPr>
          <p:cNvSpPr txBox="1"/>
          <p:nvPr/>
        </p:nvSpPr>
        <p:spPr>
          <a:xfrm>
            <a:off x="7904881" y="2912575"/>
            <a:ext cx="1983748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b="1"/>
              <a:t>Celeste Cubbage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A19941-379E-7AC9-44C5-0E984EA5A9EE}"/>
              </a:ext>
            </a:extLst>
          </p:cNvPr>
          <p:cNvSpPr txBox="1"/>
          <p:nvPr/>
        </p:nvSpPr>
        <p:spPr>
          <a:xfrm>
            <a:off x="7904881" y="4350719"/>
            <a:ext cx="140089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b="1"/>
              <a:t>Sarah Clark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9F1819-9893-8C7D-43C5-7E8AA69F557F}"/>
              </a:ext>
            </a:extLst>
          </p:cNvPr>
          <p:cNvSpPr txBox="1"/>
          <p:nvPr/>
        </p:nvSpPr>
        <p:spPr>
          <a:xfrm>
            <a:off x="7818331" y="2047238"/>
            <a:ext cx="360868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/>
              <a:t>SVP, Marketing and External Affairs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2B09EE-30C7-326A-07A7-D0E8C0847ECE}"/>
              </a:ext>
            </a:extLst>
          </p:cNvPr>
          <p:cNvSpPr txBox="1"/>
          <p:nvPr/>
        </p:nvSpPr>
        <p:spPr>
          <a:xfrm>
            <a:off x="7818331" y="3388113"/>
            <a:ext cx="347316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/>
              <a:t>Marketing and Communications Specialist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C7D8E7-CC3F-8C56-E4B9-8B6DAC0C84CE}"/>
              </a:ext>
            </a:extLst>
          </p:cNvPr>
          <p:cNvSpPr txBox="1"/>
          <p:nvPr/>
        </p:nvSpPr>
        <p:spPr>
          <a:xfrm>
            <a:off x="7845957" y="4908716"/>
            <a:ext cx="606256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D7C1E-B226-10BE-A0CC-771B7928E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623"/>
            <a:ext cx="5157355" cy="4034404"/>
          </a:xfrm>
        </p:spPr>
        <p:txBody>
          <a:bodyPr/>
          <a:lstStyle/>
          <a:p>
            <a:r>
              <a:rPr lang="en-US"/>
              <a:t>Go to the </a:t>
            </a:r>
            <a:r>
              <a:rPr lang="en-US" err="1"/>
              <a:t>MarComm</a:t>
            </a:r>
            <a:r>
              <a:rPr lang="en-US"/>
              <a:t> SharePoint Page for past decks and ideas</a:t>
            </a:r>
          </a:p>
          <a:p>
            <a:pPr lvl="1"/>
            <a:r>
              <a:rPr lang="en-US"/>
              <a:t>Check out all the resources on that page while you’re there</a:t>
            </a:r>
          </a:p>
          <a:p>
            <a:r>
              <a:rPr lang="en-US"/>
              <a:t>Reach out to a member of </a:t>
            </a:r>
            <a:r>
              <a:rPr lang="en-US" err="1"/>
              <a:t>MarComm</a:t>
            </a:r>
            <a:r>
              <a:rPr lang="en-US"/>
              <a:t> if you still have questions remaining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CA1636-67D8-70A5-C6C6-D1D1FF490222}"/>
              </a:ext>
            </a:extLst>
          </p:cNvPr>
          <p:cNvSpPr txBox="1"/>
          <p:nvPr/>
        </p:nvSpPr>
        <p:spPr>
          <a:xfrm>
            <a:off x="588819" y="1079690"/>
            <a:ext cx="542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If you need help:</a:t>
            </a:r>
          </a:p>
        </p:txBody>
      </p:sp>
      <p:pic>
        <p:nvPicPr>
          <p:cNvPr id="5" name="Picture 4" descr="A black silhouette of a person&#10;&#10;AI-generated content may be incorrect.">
            <a:extLst>
              <a:ext uri="{FF2B5EF4-FFF2-40B4-BE49-F238E27FC236}">
                <a16:creationId xmlns:a16="http://schemas.microsoft.com/office/drawing/2014/main" id="{A80C4A3F-0009-3A94-5158-ED7800DE835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4422" y="1466133"/>
            <a:ext cx="1236469" cy="1224748"/>
          </a:xfrm>
          <a:prstGeom prst="roundRect">
            <a:avLst>
              <a:gd name="adj" fmla="val 14406"/>
            </a:avLst>
          </a:prstGeom>
          <a:ln w="28575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6" name="Picture 5" descr="A black silhouette of a person&#10;&#10;AI-generated content may be incorrect.">
            <a:extLst>
              <a:ext uri="{FF2B5EF4-FFF2-40B4-BE49-F238E27FC236}">
                <a16:creationId xmlns:a16="http://schemas.microsoft.com/office/drawing/2014/main" id="{7692AD45-4DB1-0000-A585-4C529FBD2F6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3323" y="2900528"/>
            <a:ext cx="1236469" cy="1224748"/>
          </a:xfrm>
          <a:prstGeom prst="roundRect">
            <a:avLst>
              <a:gd name="adj" fmla="val 14406"/>
            </a:avLst>
          </a:prstGeom>
          <a:ln w="28575">
            <a:solidFill>
              <a:schemeClr val="tx2">
                <a:lumMod val="75000"/>
                <a:lumOff val="25000"/>
              </a:schemeClr>
            </a:solidFill>
          </a:ln>
        </p:spPr>
      </p:pic>
      <p:pic>
        <p:nvPicPr>
          <p:cNvPr id="10" name="Picture 9" descr="A black silhouette of a person&#10;&#10;AI-generated content may be incorrect.">
            <a:extLst>
              <a:ext uri="{FF2B5EF4-FFF2-40B4-BE49-F238E27FC236}">
                <a16:creationId xmlns:a16="http://schemas.microsoft.com/office/drawing/2014/main" id="{57F9DBCD-67DF-47A7-D61F-DD7155A285A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3322" y="4325958"/>
            <a:ext cx="1236469" cy="1224748"/>
          </a:xfrm>
          <a:prstGeom prst="roundRect">
            <a:avLst>
              <a:gd name="adj" fmla="val 14406"/>
            </a:avLst>
          </a:prstGeom>
          <a:ln w="28575"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5C5117-6FBF-4985-A592-61D96F4A9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2192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B7F85-17BF-C6A7-EA34-08B8154C7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Images Approved to Use – Infinity One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CDECA-60FF-D66C-799F-83E743C2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pic>
        <p:nvPicPr>
          <p:cNvPr id="7" name="Picture 6" descr="A large white cylindrical object with a large screen&#10;&#10;AI-generated content may be incorrect.">
            <a:extLst>
              <a:ext uri="{FF2B5EF4-FFF2-40B4-BE49-F238E27FC236}">
                <a16:creationId xmlns:a16="http://schemas.microsoft.com/office/drawing/2014/main" id="{2CD83E26-E6D5-8800-A5D2-9F00381DBF2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7482" y="1041997"/>
            <a:ext cx="3937036" cy="2216551"/>
          </a:xfrm>
          <a:prstGeom prst="rect">
            <a:avLst/>
          </a:prstGeom>
        </p:spPr>
      </p:pic>
      <p:pic>
        <p:nvPicPr>
          <p:cNvPr id="10" name="Picture 9" descr="A machine with a round door&#10;&#10;AI-generated content may be incorrect.">
            <a:extLst>
              <a:ext uri="{FF2B5EF4-FFF2-40B4-BE49-F238E27FC236}">
                <a16:creationId xmlns:a16="http://schemas.microsoft.com/office/drawing/2014/main" id="{9C1B2EB9-0EE5-56AD-06AE-B2B1F818375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7715" y="3590216"/>
            <a:ext cx="3937036" cy="2214583"/>
          </a:xfrm>
          <a:prstGeom prst="rect">
            <a:avLst/>
          </a:prstGeom>
        </p:spPr>
      </p:pic>
      <p:pic>
        <p:nvPicPr>
          <p:cNvPr id="12" name="Picture 11" descr="A machine with a blue and purple object&#10;&#10;AI-generated content may be incorrect.">
            <a:extLst>
              <a:ext uri="{FF2B5EF4-FFF2-40B4-BE49-F238E27FC236}">
                <a16:creationId xmlns:a16="http://schemas.microsoft.com/office/drawing/2014/main" id="{3A785719-430D-1560-5C15-3D739B1AA1E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5293" y="3590216"/>
            <a:ext cx="3937036" cy="221458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F8B41-539F-A612-D8E5-A69B910C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24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683EA-57C1-CFBF-2A5D-90D08C788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DBC45-755B-BB58-5050-5696B35E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559" y="85121"/>
            <a:ext cx="10515600" cy="625853"/>
          </a:xfrm>
        </p:spPr>
        <p:txBody>
          <a:bodyPr/>
          <a:lstStyle/>
          <a:p>
            <a:r>
              <a:rPr lang="en-US"/>
              <a:t>Images Approved to Use – Magnet Zero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A91B89-2F2F-EACD-98A7-8E6043A6A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pic>
        <p:nvPicPr>
          <p:cNvPr id="6" name="Picture 5" descr="A metal curved object with gold colored tubes&#10;&#10;AI-generated content may be incorrect.">
            <a:extLst>
              <a:ext uri="{FF2B5EF4-FFF2-40B4-BE49-F238E27FC236}">
                <a16:creationId xmlns:a16="http://schemas.microsoft.com/office/drawing/2014/main" id="{B7A23CA0-24B8-976E-CA12-EA461A72B26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464" y="1091050"/>
            <a:ext cx="3386001" cy="2230315"/>
          </a:xfrm>
          <a:prstGeom prst="rect">
            <a:avLst/>
          </a:prstGeom>
        </p:spPr>
      </p:pic>
      <p:pic>
        <p:nvPicPr>
          <p:cNvPr id="13" name="Picture 12" descr="A close-up of a pipe&#10;&#10;AI-generated content may be incorrect.">
            <a:extLst>
              <a:ext uri="{FF2B5EF4-FFF2-40B4-BE49-F238E27FC236}">
                <a16:creationId xmlns:a16="http://schemas.microsoft.com/office/drawing/2014/main" id="{8E0CF81C-A246-1A2F-9B5B-C327ECBCDA1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4281" y="1091050"/>
            <a:ext cx="3317670" cy="2211780"/>
          </a:xfrm>
          <a:prstGeom prst="rect">
            <a:avLst/>
          </a:prstGeom>
        </p:spPr>
      </p:pic>
      <p:pic>
        <p:nvPicPr>
          <p:cNvPr id="15" name="Picture 14" descr="A circular metal object with yellow strips&#10;&#10;AI-generated content may be incorrect.">
            <a:extLst>
              <a:ext uri="{FF2B5EF4-FFF2-40B4-BE49-F238E27FC236}">
                <a16:creationId xmlns:a16="http://schemas.microsoft.com/office/drawing/2014/main" id="{65950821-784C-9AE2-932D-54AB4520BD0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7756" y="3516923"/>
            <a:ext cx="3373861" cy="2249241"/>
          </a:xfrm>
          <a:prstGeom prst="rect">
            <a:avLst/>
          </a:prstGeom>
        </p:spPr>
      </p:pic>
      <p:pic>
        <p:nvPicPr>
          <p:cNvPr id="17" name="Picture 16" descr="A metal piece of equipment from a crane&#10;&#10;AI-generated content may be incorrect.">
            <a:extLst>
              <a:ext uri="{FF2B5EF4-FFF2-40B4-BE49-F238E27FC236}">
                <a16:creationId xmlns:a16="http://schemas.microsoft.com/office/drawing/2014/main" id="{8C1EC75E-85C2-B8EB-C4DB-9A313D30D8C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33767" y="3516923"/>
            <a:ext cx="3344283" cy="2230315"/>
          </a:xfrm>
          <a:prstGeom prst="rect">
            <a:avLst/>
          </a:prstGeom>
        </p:spPr>
      </p:pic>
      <p:pic>
        <p:nvPicPr>
          <p:cNvPr id="19" name="Picture 18" descr="A close-up of a cable&#10;&#10;AI-generated content may be incorrect.">
            <a:extLst>
              <a:ext uri="{FF2B5EF4-FFF2-40B4-BE49-F238E27FC236}">
                <a16:creationId xmlns:a16="http://schemas.microsoft.com/office/drawing/2014/main" id="{6285507A-2EA8-17FB-420F-3D0F58DB52C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33767" y="1072515"/>
            <a:ext cx="3345473" cy="2230315"/>
          </a:xfrm>
          <a:prstGeom prst="rect">
            <a:avLst/>
          </a:prstGeom>
        </p:spPr>
      </p:pic>
      <p:pic>
        <p:nvPicPr>
          <p:cNvPr id="21" name="Picture 20" descr="A few men wearing blue hard hats&#10;&#10;AI-generated content may be incorrect.">
            <a:extLst>
              <a:ext uri="{FF2B5EF4-FFF2-40B4-BE49-F238E27FC236}">
                <a16:creationId xmlns:a16="http://schemas.microsoft.com/office/drawing/2014/main" id="{56395A78-7E91-F477-68B0-172B867FAA12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744" y="3516923"/>
            <a:ext cx="3373862" cy="224924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24CD6-58ED-B462-850D-BB900C7E7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84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1D80-711A-2300-003C-1B5DE36B4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8A6DB-4665-13B5-A4BB-024455679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Logos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9E9EB-1934-C93A-2E6D-B920451BB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3FB433-4038-153C-6F4E-C39A3D55AD7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1865" y="1183284"/>
            <a:ext cx="8848270" cy="884827"/>
          </a:xfrm>
          <a:prstGeom prst="rect">
            <a:avLst/>
          </a:prstGeom>
        </p:spPr>
      </p:pic>
      <p:pic>
        <p:nvPicPr>
          <p:cNvPr id="9" name="Picture 8" descr="A blue and black logo&#10;&#10;AI-generated content may be incorrect.">
            <a:extLst>
              <a:ext uri="{FF2B5EF4-FFF2-40B4-BE49-F238E27FC236}">
                <a16:creationId xmlns:a16="http://schemas.microsoft.com/office/drawing/2014/main" id="{68518D55-1D31-79AF-7883-99013205D86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1514" y="2672861"/>
            <a:ext cx="4288972" cy="283072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2A0D4-B927-1CB6-0427-5A54C142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50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92DF-460E-B0EE-F50E-4003FAD064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4D845D-A234-00C9-31E8-8043ECF7D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PROPRIETARY &amp; CONFIDENTIAL – INTERNAL USE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98027-256C-1E27-522D-4B20D3912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79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1E_NewBranding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280BB"/>
      </a:accent1>
      <a:accent2>
        <a:srgbClr val="F79C1C"/>
      </a:accent2>
      <a:accent3>
        <a:srgbClr val="717275"/>
      </a:accent3>
      <a:accent4>
        <a:srgbClr val="78CCF0"/>
      </a:accent4>
      <a:accent5>
        <a:srgbClr val="7B54A2"/>
      </a:accent5>
      <a:accent6>
        <a:srgbClr val="071F3F"/>
      </a:accent6>
      <a:hlink>
        <a:srgbClr val="1F4F86"/>
      </a:hlink>
      <a:folHlink>
        <a:srgbClr val="34417C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nternal_T1E_Template" id="{5785AD9C-9FE1-4158-B50D-B026C166FF5D}" vid="{99CBEE6F-C138-4591-B46D-0A9A2FE366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C969632D2F4448AC095683D5A864CD" ma:contentTypeVersion="4" ma:contentTypeDescription="Create a new document." ma:contentTypeScope="" ma:versionID="569f47ae804bcaa433381bb67b11379d">
  <xsd:schema xmlns:xsd="http://www.w3.org/2001/XMLSchema" xmlns:xs="http://www.w3.org/2001/XMLSchema" xmlns:p="http://schemas.microsoft.com/office/2006/metadata/properties" xmlns:ns2="ab1a4fc9-b125-4bfb-adaa-5aff9f581cff" targetNamespace="http://schemas.microsoft.com/office/2006/metadata/properties" ma:root="true" ma:fieldsID="b42b4581af6e8ed22d436fb952fa78a5" ns2:_="">
    <xsd:import namespace="ab1a4fc9-b125-4bfb-adaa-5aff9f581c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1a4fc9-b125-4bfb-adaa-5aff9f581c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A734B9-BCF1-4988-81CA-6A479BADD9E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29C9D4-B6A6-4C96-B8A3-42DB4EA99107}">
  <ds:schemaRefs>
    <ds:schemaRef ds:uri="http://schemas.microsoft.com/office/infopath/2007/PartnerControl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ab1a4fc9-b125-4bfb-adaa-5aff9f581cff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80548DD-AB12-422A-980C-3E5402C60C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1a4fc9-b125-4bfb-adaa-5aff9f581c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2752</TotalTime>
  <Words>1602</Words>
  <Application>Microsoft Macintosh PowerPoint</Application>
  <PresentationFormat>Widescreen</PresentationFormat>
  <Paragraphs>322</Paragraphs>
  <Slides>33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Exo</vt:lpstr>
      <vt:lpstr>Office Theme</vt:lpstr>
      <vt:lpstr>FESTIM Fellowship Work Plan E. Yildirim</vt:lpstr>
      <vt:lpstr>Overview</vt:lpstr>
      <vt:lpstr>Structure</vt:lpstr>
      <vt:lpstr>Stage 1 – Pebble Model Evaluation</vt:lpstr>
      <vt:lpstr>Stage 2 – Pure Loop Model</vt:lpstr>
      <vt:lpstr>Stage 3</vt:lpstr>
      <vt:lpstr>Visualization</vt:lpstr>
      <vt:lpstr>Visualization</vt:lpstr>
      <vt:lpstr>Visualization</vt:lpstr>
      <vt:lpstr>How FESTIM will be used</vt:lpstr>
      <vt:lpstr>Utilization in T1E workflow</vt:lpstr>
      <vt:lpstr>PowerPoint Presentation</vt:lpstr>
      <vt:lpstr>New Section</vt:lpstr>
      <vt:lpstr>New Section</vt:lpstr>
      <vt:lpstr>General Content Slide</vt:lpstr>
      <vt:lpstr>Text-only Slide</vt:lpstr>
      <vt:lpstr>Content + Subtitle Slide</vt:lpstr>
      <vt:lpstr>Content + Images Slide</vt:lpstr>
      <vt:lpstr>Content + Image Slide</vt:lpstr>
      <vt:lpstr>Highlight Image + Notes</vt:lpstr>
      <vt:lpstr>Timeline Slide</vt:lpstr>
      <vt:lpstr>Highlight Slide 1</vt:lpstr>
      <vt:lpstr>Highlight Slide 2</vt:lpstr>
      <vt:lpstr>Big Ideas</vt:lpstr>
      <vt:lpstr>Big Ideas</vt:lpstr>
      <vt:lpstr>Big Ideas</vt:lpstr>
      <vt:lpstr>Processes</vt:lpstr>
      <vt:lpstr>Meet Your Team</vt:lpstr>
      <vt:lpstr>Need more support?</vt:lpstr>
      <vt:lpstr>Images Approved to Use – Infinity One</vt:lpstr>
      <vt:lpstr>Images Approved to Use – Magnet Zero</vt:lpstr>
      <vt:lpstr>Our Logos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Emre Yildirim</dc:creator>
  <cp:lastModifiedBy>Emre Yildirim</cp:lastModifiedBy>
  <cp:revision>2</cp:revision>
  <dcterms:created xsi:type="dcterms:W3CDTF">2026-05-20T09:37:03Z</dcterms:created>
  <dcterms:modified xsi:type="dcterms:W3CDTF">2026-05-22T07:45:17Z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0x0101002AC969632D2F4448AC095683D5A864CD</vt:lpwstr>
  </property>
  <property fmtid="{D5CDD505-2E9C-101B-9397-08002B2CF9AE}" pid="3" name="MediaServiceImageTags">
    <vt:lpwstr/>
  </property>
</Properties>
</file>